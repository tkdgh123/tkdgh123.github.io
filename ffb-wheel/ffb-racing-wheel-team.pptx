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저희 팀은 포스 피드백 레이싱 휠을 만들었습니다. 게임 속 노면과 코너링의 힘을 모터로 핸들에 전달하는 아두이노 운전 장치입니다. 오른쪽 그림처럼 책상 위의 핸들, 바닥의 액셀·브레이크 페달, 핸들 뒤에 달린 기어 업·다운 패들, 이렇게 세 부분으로 이루어져 있습니다. 이어서 팀원을 소개하겠습니다. 황찬웅 학생은 소프트웨어를 맡아 펌웨어와 캘리브레이션, 게임 연동을 담당합니다. 최민호 학생은 하드웨어를 맡아 모터·전원 배선과 센서 연결, 안전 장치를 담당합니다. 김도영 학생은 기구와 시연을 맡아 프레임 조립과 페달 제작, 시연 진행을 담당합니다. 저 김창식은 기획을 맡아 요구사항 명세 작성과 3D 설계, 일정 관리와 발표를 담당합니다.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이 휠을 만드는 이유는, 도로에 나가기 전에 누구나 안전하게 운전을 연습할 수 있게 하기 위해서입니다. 첫째, 실제 도로에 나가기 전에 안전한 곳에서 핸들 감각을 익힐 수 있습니다. 둘째, 구하기 쉬운 부품으로 만들어 학교나 복지관에서도 부담 없이 갖출 수 있습니다. 셋째, 설계를 공개해서 누구나 따라 만들 수 있게 하려 합니다. 작동 방식은 간단합니다. 게임의 신호를 아두이노가 받아 모터를 돌리고, 벨트가 그 힘을 핸들에 전달합니다. 그래서 코너를 돌거나 노면이 거칠어지면 그 느낌이 손으로 그대로 전해집니다.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휠을 쓰는 사람은 네 부류입니다. 도로에 나가기 전 연습이 필요한 초보 운전자, 운전 감각을 유지하고 다시 익히려는 고령 운전자, 학교와 동아리에서 공학을 배우는 학생, 그리고 집에서 레이싱 게임을 즐기는 사람들입니다. 이들이 이 휠을 쓰는 이유는 세 가지입니다. 노면과 코너링의 힘이 핸들로 전해져 실제 같은 손맛을 주고, 핸들 각도를 세밀하게 읽어 정밀하게 조향할 수 있으며, 회전 범위와 힘 세기를 사용자에게 맞게 조절할 수 있습니다. 오른쪽 아래 QR 코드를 찍으시면 3D 시뮬레이션으로 휠의 구조를 직접 돌려 보실 수 있습니다. 이상으로 발표를 마치겠습니다.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5669280"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5669280" cy="685800"/>
          </a:xfrm>
          <a:prstGeom prst="rect">
            <a:avLst/>
          </a:prstGeom>
          <a:noFill/>
          <a:ln/>
        </p:spPr>
        <p:txBody>
          <a:bodyPr wrap="square" lIns="0" tIns="0" rIns="0" bIns="0" rtlCol="0" anchor="t"/>
          <a:lstStyle/>
          <a:p>
            <a:pPr algn="l" indent="0" marL="0">
              <a:buNone/>
            </a:pPr>
            <a:r>
              <a:rPr lang="en-US" sz="3200" b="1" dirty="0">
                <a:solidFill>
                  <a:schemeClr val="tx1"/>
                </a:solidFill>
              </a:rPr>
              <a:t>포스 피드백 레이싱 휠</a:t>
            </a:r>
            <a:endParaRPr lang="en-US" sz="3200" dirty="0"/>
          </a:p>
        </p:txBody>
      </p:sp>
      <p:sp>
        <p:nvSpPr>
          <p:cNvPr id="3" name="부제"/>
          <p:cNvSpPr txBox="1"/>
          <p:nvPr/>
        </p:nvSpPr>
        <p:spPr>
          <a:xfrm>
            <a:off x="685800" y="1325880"/>
            <a:ext cx="5394960" cy="731520"/>
          </a:xfrm>
          <a:prstGeom prst="rect">
            <a:avLst/>
          </a:prstGeom>
          <a:noFill/>
          <a:ln/>
        </p:spPr>
        <p:txBody>
          <a:bodyPr wrap="square" lIns="0" tIns="0" rIns="0" bIns="0" rtlCol="0" anchor="t"/>
          <a:lstStyle/>
          <a:p>
            <a:pPr indent="0" marL="0">
              <a:buNone/>
            </a:pPr>
            <a:r>
              <a:rPr lang="en-US" sz="1600" dirty="0">
                <a:solidFill>
                  <a:schemeClr val="tx2"/>
                </a:solidFill>
              </a:rPr>
              <a:t>게임 속 노면과 코너링의 힘을</a:t>
            </a:r>
            <a:endParaRPr lang="en-US" sz="1600" dirty="0"/>
          </a:p>
          <a:p>
            <a:pPr indent="0" marL="0">
              <a:buNone/>
            </a:pPr>
            <a:r>
              <a:rPr lang="en-US" sz="1600" dirty="0">
                <a:solidFill>
                  <a:schemeClr val="tx2"/>
                </a:solidFill>
              </a:rPr>
              <a:t>모터로 핸들에 전달하는 아두이노 운전 장치</a:t>
            </a:r>
            <a:endParaRPr lang="en-US" sz="1600" dirty="0"/>
          </a:p>
        </p:txBody>
      </p:sp>
      <p:sp>
        <p:nvSpPr>
          <p:cNvPr id="4" name="구성 라벨"/>
          <p:cNvSpPr txBox="1"/>
          <p:nvPr/>
        </p:nvSpPr>
        <p:spPr>
          <a:xfrm>
            <a:off x="685800" y="2514600"/>
            <a:ext cx="4206240" cy="274320"/>
          </a:xfrm>
          <a:prstGeom prst="rect">
            <a:avLst/>
          </a:prstGeom>
          <a:noFill/>
          <a:ln/>
        </p:spPr>
        <p:txBody>
          <a:bodyPr wrap="square" lIns="0" tIns="0" rIns="0" bIns="0" rtlCol="0" anchor="t"/>
          <a:lstStyle/>
          <a:p>
            <a:pPr indent="0" marL="0">
              <a:buNone/>
            </a:pPr>
            <a:r>
              <a:rPr lang="en-US" sz="1300" dirty="0">
                <a:solidFill>
                  <a:schemeClr val="tx2"/>
                </a:solidFill>
              </a:rPr>
              <a:t>구성</a:t>
            </a:r>
            <a:endParaRPr lang="en-US" sz="1300" dirty="0"/>
          </a:p>
        </p:txBody>
      </p:sp>
      <p:sp>
        <p:nvSpPr>
          <p:cNvPr id="5" name="구성 구분선 1"/>
          <p:cNvSpPr/>
          <p:nvPr/>
        </p:nvSpPr>
        <p:spPr>
          <a:xfrm>
            <a:off x="685800" y="2880360"/>
            <a:ext cx="4389120" cy="0"/>
          </a:xfrm>
          <a:prstGeom prst="line">
            <a:avLst/>
          </a:prstGeom>
          <a:noFill/>
          <a:ln w="12700">
            <a:solidFill>
              <a:schemeClr val="accent1"/>
            </a:solidFill>
            <a:prstDash val="solid"/>
          </a:ln>
        </p:spPr>
      </p:sp>
      <p:sp>
        <p:nvSpPr>
          <p:cNvPr id="6" name="구성 1"/>
          <p:cNvSpPr txBox="1"/>
          <p:nvPr/>
        </p:nvSpPr>
        <p:spPr>
          <a:xfrm>
            <a:off x="685800" y="3063240"/>
            <a:ext cx="4389120" cy="411480"/>
          </a:xfrm>
          <a:prstGeom prst="rect">
            <a:avLst/>
          </a:prstGeom>
          <a:noFill/>
          <a:ln/>
        </p:spPr>
        <p:txBody>
          <a:bodyPr wrap="square" lIns="0" tIns="0" rIns="0" bIns="0" rtlCol="0" anchor="t"/>
          <a:lstStyle/>
          <a:p>
            <a:pPr indent="0" marL="0">
              <a:buNone/>
            </a:pPr>
            <a:r>
              <a:rPr lang="en-US" sz="2200" b="1" dirty="0">
                <a:solidFill>
                  <a:schemeClr val="tx1"/>
                </a:solidFill>
              </a:rPr>
              <a:t>핸들</a:t>
            </a:r>
            <a:endParaRPr lang="en-US" sz="2200" dirty="0"/>
          </a:p>
        </p:txBody>
      </p:sp>
      <p:sp>
        <p:nvSpPr>
          <p:cNvPr id="7" name="구성 구분선 2"/>
          <p:cNvSpPr/>
          <p:nvPr/>
        </p:nvSpPr>
        <p:spPr>
          <a:xfrm>
            <a:off x="685800" y="3630168"/>
            <a:ext cx="4389120" cy="0"/>
          </a:xfrm>
          <a:prstGeom prst="line">
            <a:avLst/>
          </a:prstGeom>
          <a:noFill/>
          <a:ln w="12700">
            <a:solidFill>
              <a:schemeClr val="accent1"/>
            </a:solidFill>
            <a:prstDash val="solid"/>
          </a:ln>
        </p:spPr>
      </p:sp>
      <p:sp>
        <p:nvSpPr>
          <p:cNvPr id="8" name="구성 2"/>
          <p:cNvSpPr txBox="1"/>
          <p:nvPr/>
        </p:nvSpPr>
        <p:spPr>
          <a:xfrm>
            <a:off x="685800" y="3813048"/>
            <a:ext cx="4389120" cy="411480"/>
          </a:xfrm>
          <a:prstGeom prst="rect">
            <a:avLst/>
          </a:prstGeom>
          <a:noFill/>
          <a:ln/>
        </p:spPr>
        <p:txBody>
          <a:bodyPr wrap="square" lIns="0" tIns="0" rIns="0" bIns="0" rtlCol="0" anchor="t"/>
          <a:lstStyle/>
          <a:p>
            <a:pPr indent="0" marL="0">
              <a:buNone/>
            </a:pPr>
            <a:r>
              <a:rPr lang="en-US" sz="2200" b="1" dirty="0">
                <a:solidFill>
                  <a:schemeClr val="tx1"/>
                </a:solidFill>
              </a:rPr>
              <a:t>액셀·브레이크 페달</a:t>
            </a:r>
            <a:endParaRPr lang="en-US" sz="2200" dirty="0"/>
          </a:p>
        </p:txBody>
      </p:sp>
      <p:sp>
        <p:nvSpPr>
          <p:cNvPr id="9" name="구성 구분선 3"/>
          <p:cNvSpPr/>
          <p:nvPr/>
        </p:nvSpPr>
        <p:spPr>
          <a:xfrm>
            <a:off x="685800" y="4379976"/>
            <a:ext cx="4389120" cy="0"/>
          </a:xfrm>
          <a:prstGeom prst="line">
            <a:avLst/>
          </a:prstGeom>
          <a:noFill/>
          <a:ln w="12700">
            <a:solidFill>
              <a:schemeClr val="accent1"/>
            </a:solidFill>
            <a:prstDash val="solid"/>
          </a:ln>
        </p:spPr>
      </p:sp>
      <p:sp>
        <p:nvSpPr>
          <p:cNvPr id="10" name="구성 3"/>
          <p:cNvSpPr txBox="1"/>
          <p:nvPr/>
        </p:nvSpPr>
        <p:spPr>
          <a:xfrm>
            <a:off x="685800" y="4562856"/>
            <a:ext cx="4389120" cy="411480"/>
          </a:xfrm>
          <a:prstGeom prst="rect">
            <a:avLst/>
          </a:prstGeom>
          <a:noFill/>
          <a:ln/>
        </p:spPr>
        <p:txBody>
          <a:bodyPr wrap="square" lIns="0" tIns="0" rIns="0" bIns="0" rtlCol="0" anchor="t"/>
          <a:lstStyle/>
          <a:p>
            <a:pPr indent="0" marL="0">
              <a:buNone/>
            </a:pPr>
            <a:r>
              <a:rPr lang="en-US" sz="2200" b="1" dirty="0">
                <a:solidFill>
                  <a:schemeClr val="tx1"/>
                </a:solidFill>
              </a:rPr>
              <a:t>기어 업·다운 패들</a:t>
            </a:r>
            <a:endParaRPr lang="en-US" sz="2200" dirty="0"/>
          </a:p>
        </p:txBody>
      </p:sp>
      <p:sp>
        <p:nvSpPr>
          <p:cNvPr id="11" name="구성 구분선 끝"/>
          <p:cNvSpPr/>
          <p:nvPr/>
        </p:nvSpPr>
        <p:spPr>
          <a:xfrm>
            <a:off x="685800" y="5129784"/>
            <a:ext cx="4389120" cy="0"/>
          </a:xfrm>
          <a:prstGeom prst="line">
            <a:avLst/>
          </a:prstGeom>
          <a:noFill/>
          <a:ln w="12700">
            <a:solidFill>
              <a:schemeClr val="accent1"/>
            </a:solidFill>
            <a:prstDash val="solid"/>
          </a:ln>
        </p:spPr>
      </p:sp>
      <p:pic>
        <p:nvPicPr>
          <p:cNvPr id="12" name="3D 모델" descr="책상 위 휠 베이스와 바닥 페달을 보여 주는 3D 모델">    </p:cNvPr>
          <p:cNvPicPr>
            <a:picLocks noChangeAspect="1"/>
          </p:cNvPicPr>
          <p:nvPr/>
        </p:nvPicPr>
        <p:blipFill>
          <a:blip r:embed="rId1"/>
          <a:stretch>
            <a:fillRect/>
          </a:stretch>
        </p:blipFill>
        <p:spPr>
          <a:xfrm>
            <a:off x="6376278" y="457200"/>
            <a:ext cx="5126874" cy="4983480"/>
          </a:xfrm>
          <a:prstGeom prst="rect">
            <a:avLst/>
          </a:prstGeom>
        </p:spPr>
      </p:pic>
      <p:sp>
        <p:nvSpPr>
          <p:cNvPr id="13" name="팀 구분선"/>
          <p:cNvSpPr/>
          <p:nvPr/>
        </p:nvSpPr>
        <p:spPr>
          <a:xfrm>
            <a:off x="685800" y="5806440"/>
            <a:ext cx="10817352" cy="0"/>
          </a:xfrm>
          <a:prstGeom prst="line">
            <a:avLst/>
          </a:prstGeom>
          <a:noFill/>
          <a:ln w="12700">
            <a:solidFill>
              <a:schemeClr val="accent1"/>
            </a:solidFill>
            <a:prstDash val="solid"/>
          </a:ln>
        </p:spPr>
      </p:sp>
      <p:sp>
        <p:nvSpPr>
          <p:cNvPr id="14" name="팀 구성"/>
          <p:cNvSpPr txBox="1"/>
          <p:nvPr/>
        </p:nvSpPr>
        <p:spPr>
          <a:xfrm>
            <a:off x="685800" y="5989320"/>
            <a:ext cx="10817352" cy="365760"/>
          </a:xfrm>
          <a:prstGeom prst="rect">
            <a:avLst/>
          </a:prstGeom>
          <a:noFill/>
          <a:ln/>
        </p:spPr>
        <p:txBody>
          <a:bodyPr wrap="square" lIns="0" tIns="0" rIns="0" bIns="0" rtlCol="0" anchor="t"/>
          <a:lstStyle/>
          <a:p>
            <a:pPr indent="0" marL="0">
              <a:buNone/>
            </a:pPr>
            <a:r>
              <a:rPr lang="en-US" sz="1500" dirty="0">
                <a:solidFill>
                  <a:schemeClr val="tx2"/>
                </a:solidFill>
              </a:rPr>
              <a:t>소프트웨어 </a:t>
            </a:r>
            <a:pPr indent="0" marL="0">
              <a:buNone/>
            </a:pPr>
            <a:r>
              <a:rPr lang="en-US" sz="1500" b="1" dirty="0">
                <a:solidFill>
                  <a:schemeClr val="tx1"/>
                </a:solidFill>
              </a:rPr>
              <a:t>황찬웅</a:t>
            </a:r>
            <a:pPr indent="0" marL="0">
              <a:buNone/>
            </a:pPr>
            <a:r>
              <a:rPr lang="en-US" sz="1500" dirty="0">
                <a:solidFill>
                  <a:schemeClr val="accent2"/>
                </a:solidFill>
              </a:rPr>
              <a:t>   ·   </a:t>
            </a:r>
            <a:pPr indent="0" marL="0">
              <a:buNone/>
            </a:pPr>
            <a:r>
              <a:rPr lang="en-US" sz="1500" dirty="0">
                <a:solidFill>
                  <a:schemeClr val="tx2"/>
                </a:solidFill>
              </a:rPr>
              <a:t>하드웨어 </a:t>
            </a:r>
            <a:pPr indent="0" marL="0">
              <a:buNone/>
            </a:pPr>
            <a:r>
              <a:rPr lang="en-US" sz="1500" b="1" dirty="0">
                <a:solidFill>
                  <a:schemeClr val="tx1"/>
                </a:solidFill>
              </a:rPr>
              <a:t>최민호</a:t>
            </a:r>
            <a:pPr indent="0" marL="0">
              <a:buNone/>
            </a:pPr>
            <a:r>
              <a:rPr lang="en-US" sz="1500" dirty="0">
                <a:solidFill>
                  <a:schemeClr val="accent2"/>
                </a:solidFill>
              </a:rPr>
              <a:t>   ·   </a:t>
            </a:r>
            <a:pPr indent="0" marL="0">
              <a:buNone/>
            </a:pPr>
            <a:r>
              <a:rPr lang="en-US" sz="1500" dirty="0">
                <a:solidFill>
                  <a:schemeClr val="tx2"/>
                </a:solidFill>
              </a:rPr>
              <a:t>기구/시연 </a:t>
            </a:r>
            <a:pPr indent="0" marL="0">
              <a:buNone/>
            </a:pPr>
            <a:r>
              <a:rPr lang="en-US" sz="1500" b="1" dirty="0">
                <a:solidFill>
                  <a:schemeClr val="tx1"/>
                </a:solidFill>
              </a:rPr>
              <a:t>김도영</a:t>
            </a:r>
            <a:pPr indent="0" marL="0">
              <a:buNone/>
            </a:pPr>
            <a:r>
              <a:rPr lang="en-US" sz="1500" dirty="0">
                <a:solidFill>
                  <a:schemeClr val="accent2"/>
                </a:solidFill>
              </a:rPr>
              <a:t>   ·   </a:t>
            </a:r>
            <a:pPr indent="0" marL="0">
              <a:buNone/>
            </a:pPr>
            <a:r>
              <a:rPr lang="en-US" sz="1500" dirty="0">
                <a:solidFill>
                  <a:schemeClr val="tx2"/>
                </a:solidFill>
              </a:rPr>
              <a:t>기획 </a:t>
            </a:r>
            <a:pPr indent="0" marL="0">
              <a:buNone/>
            </a:pPr>
            <a:r>
              <a:rPr lang="en-US" sz="1500" b="1" dirty="0">
                <a:solidFill>
                  <a:schemeClr val="tx1"/>
                </a:solidFill>
              </a:rPr>
              <a:t>김창식</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5669280" cy="685800"/>
          </a:xfrm>
          <a:prstGeom prst="rect">
            <a:avLst/>
          </a:prstGeom>
          <a:noFill/>
          <a:ln/>
        </p:spPr>
        <p:txBody>
          <a:bodyPr wrap="square" lIns="0" tIns="0" rIns="0" bIns="0" rtlCol="0" anchor="t"/>
          <a:lstStyle/>
          <a:p>
            <a:pPr algn="l" indent="0" marL="0">
              <a:buNone/>
            </a:pPr>
            <a:r>
              <a:rPr lang="en-US" sz="3200" b="1" dirty="0">
                <a:solidFill>
                  <a:schemeClr val="tx1"/>
                </a:solidFill>
              </a:rPr>
              <a:t>만드는 이유</a:t>
            </a:r>
            <a:endParaRPr lang="en-US" sz="3200" dirty="0"/>
          </a:p>
        </p:txBody>
      </p:sp>
      <p:sp>
        <p:nvSpPr>
          <p:cNvPr id="3" name="핵심 문장"/>
          <p:cNvSpPr txBox="1"/>
          <p:nvPr/>
        </p:nvSpPr>
        <p:spPr>
          <a:xfrm>
            <a:off x="685800" y="1691640"/>
            <a:ext cx="5120640" cy="2194560"/>
          </a:xfrm>
          <a:prstGeom prst="rect">
            <a:avLst/>
          </a:prstGeom>
          <a:noFill/>
          <a:ln/>
        </p:spPr>
        <p:txBody>
          <a:bodyPr wrap="square" lIns="0" tIns="0" rIns="0" bIns="0" rtlCol="0" anchor="t"/>
          <a:lstStyle/>
          <a:p>
            <a:pPr indent="0" marL="0">
              <a:lnSpc>
                <a:spcPct val="115000"/>
              </a:lnSpc>
              <a:buNone/>
            </a:pPr>
            <a:r>
              <a:rPr lang="en-US" sz="3000" b="1" dirty="0">
                <a:solidFill>
                  <a:schemeClr val="tx1"/>
                </a:solidFill>
              </a:rPr>
              <a:t>도로에 나가기 전,</a:t>
            </a:r>
            <a:endParaRPr lang="en-US" sz="3000" dirty="0"/>
          </a:p>
          <a:p>
            <a:pPr indent="0" marL="0">
              <a:lnSpc>
                <a:spcPct val="115000"/>
              </a:lnSpc>
              <a:buNone/>
            </a:pPr>
            <a:r>
              <a:rPr lang="en-US" sz="3000" b="1" dirty="0">
                <a:solidFill>
                  <a:schemeClr val="tx1"/>
                </a:solidFill>
              </a:rPr>
              <a:t>누구나 안전하게</a:t>
            </a:r>
            <a:endParaRPr lang="en-US" sz="3000" dirty="0"/>
          </a:p>
          <a:p>
            <a:pPr indent="0" marL="0">
              <a:lnSpc>
                <a:spcPct val="115000"/>
              </a:lnSpc>
              <a:buNone/>
            </a:pPr>
            <a:r>
              <a:rPr lang="en-US" sz="3000" b="1" dirty="0">
                <a:solidFill>
                  <a:schemeClr val="tx1"/>
                </a:solidFill>
              </a:rPr>
              <a:t>운전을 연습할 수 있도록</a:t>
            </a:r>
            <a:endParaRPr lang="en-US" sz="3000" dirty="0"/>
          </a:p>
        </p:txBody>
      </p:sp>
      <p:sp>
        <p:nvSpPr>
          <p:cNvPr id="4" name="이유 구분선 1"/>
          <p:cNvSpPr/>
          <p:nvPr/>
        </p:nvSpPr>
        <p:spPr>
          <a:xfrm>
            <a:off x="6400800" y="1691640"/>
            <a:ext cx="5102352" cy="0"/>
          </a:xfrm>
          <a:prstGeom prst="line">
            <a:avLst/>
          </a:prstGeom>
          <a:noFill/>
          <a:ln w="12700">
            <a:solidFill>
              <a:schemeClr val="accent1"/>
            </a:solidFill>
            <a:prstDash val="solid"/>
          </a:ln>
        </p:spPr>
      </p:sp>
      <p:sp>
        <p:nvSpPr>
          <p:cNvPr id="5" name="이유 1"/>
          <p:cNvSpPr txBox="1"/>
          <p:nvPr/>
        </p:nvSpPr>
        <p:spPr>
          <a:xfrm>
            <a:off x="6400800" y="1874520"/>
            <a:ext cx="5102352" cy="411480"/>
          </a:xfrm>
          <a:prstGeom prst="rect">
            <a:avLst/>
          </a:prstGeom>
          <a:noFill/>
          <a:ln/>
        </p:spPr>
        <p:txBody>
          <a:bodyPr wrap="square" lIns="0" tIns="0" rIns="0" bIns="0" rtlCol="0" anchor="t"/>
          <a:lstStyle/>
          <a:p>
            <a:pPr indent="0" marL="0">
              <a:buNone/>
            </a:pPr>
            <a:r>
              <a:rPr lang="en-US" sz="2200" b="1" dirty="0">
                <a:solidFill>
                  <a:schemeClr val="tx1"/>
                </a:solidFill>
              </a:rPr>
              <a:t>안전한 운전 연습</a:t>
            </a:r>
            <a:endParaRPr lang="en-US" sz="2200" dirty="0"/>
          </a:p>
        </p:txBody>
      </p:sp>
      <p:sp>
        <p:nvSpPr>
          <p:cNvPr id="6" name="이유 1 설명"/>
          <p:cNvSpPr txBox="1"/>
          <p:nvPr/>
        </p:nvSpPr>
        <p:spPr>
          <a:xfrm>
            <a:off x="6400800" y="2331720"/>
            <a:ext cx="5102352" cy="320040"/>
          </a:xfrm>
          <a:prstGeom prst="rect">
            <a:avLst/>
          </a:prstGeom>
          <a:noFill/>
          <a:ln/>
        </p:spPr>
        <p:txBody>
          <a:bodyPr wrap="square" lIns="0" tIns="0" rIns="0" bIns="0" rtlCol="0" anchor="t"/>
          <a:lstStyle/>
          <a:p>
            <a:pPr indent="0" marL="0">
              <a:buNone/>
            </a:pPr>
            <a:r>
              <a:rPr lang="en-US" sz="1500" dirty="0">
                <a:solidFill>
                  <a:schemeClr val="tx2"/>
                </a:solidFill>
              </a:rPr>
              <a:t>실제 도로 전에 핸들 감각 익히기</a:t>
            </a:r>
            <a:endParaRPr lang="en-US" sz="1500" dirty="0"/>
          </a:p>
        </p:txBody>
      </p:sp>
      <p:sp>
        <p:nvSpPr>
          <p:cNvPr id="7" name="이유 구분선 2"/>
          <p:cNvSpPr/>
          <p:nvPr/>
        </p:nvSpPr>
        <p:spPr>
          <a:xfrm>
            <a:off x="6400800" y="2788920"/>
            <a:ext cx="5102352" cy="0"/>
          </a:xfrm>
          <a:prstGeom prst="line">
            <a:avLst/>
          </a:prstGeom>
          <a:noFill/>
          <a:ln w="12700">
            <a:solidFill>
              <a:schemeClr val="accent1"/>
            </a:solidFill>
            <a:prstDash val="solid"/>
          </a:ln>
        </p:spPr>
      </p:sp>
      <p:sp>
        <p:nvSpPr>
          <p:cNvPr id="8" name="이유 2"/>
          <p:cNvSpPr txBox="1"/>
          <p:nvPr/>
        </p:nvSpPr>
        <p:spPr>
          <a:xfrm>
            <a:off x="6400800" y="2971800"/>
            <a:ext cx="5102352" cy="411480"/>
          </a:xfrm>
          <a:prstGeom prst="rect">
            <a:avLst/>
          </a:prstGeom>
          <a:noFill/>
          <a:ln/>
        </p:spPr>
        <p:txBody>
          <a:bodyPr wrap="square" lIns="0" tIns="0" rIns="0" bIns="0" rtlCol="0" anchor="t"/>
          <a:lstStyle/>
          <a:p>
            <a:pPr indent="0" marL="0">
              <a:buNone/>
            </a:pPr>
            <a:r>
              <a:rPr lang="en-US" sz="2200" b="1" dirty="0">
                <a:solidFill>
                  <a:schemeClr val="tx1"/>
                </a:solidFill>
              </a:rPr>
              <a:t>부담 없는 비용</a:t>
            </a:r>
            <a:endParaRPr lang="en-US" sz="2200" dirty="0"/>
          </a:p>
        </p:txBody>
      </p:sp>
      <p:sp>
        <p:nvSpPr>
          <p:cNvPr id="9" name="이유 2 설명"/>
          <p:cNvSpPr txBox="1"/>
          <p:nvPr/>
        </p:nvSpPr>
        <p:spPr>
          <a:xfrm>
            <a:off x="6400800" y="3429000"/>
            <a:ext cx="5102352" cy="320040"/>
          </a:xfrm>
          <a:prstGeom prst="rect">
            <a:avLst/>
          </a:prstGeom>
          <a:noFill/>
          <a:ln/>
        </p:spPr>
        <p:txBody>
          <a:bodyPr wrap="square" lIns="0" tIns="0" rIns="0" bIns="0" rtlCol="0" anchor="t"/>
          <a:lstStyle/>
          <a:p>
            <a:pPr indent="0" marL="0">
              <a:buNone/>
            </a:pPr>
            <a:r>
              <a:rPr lang="en-US" sz="1500" dirty="0">
                <a:solidFill>
                  <a:schemeClr val="tx2"/>
                </a:solidFill>
              </a:rPr>
              <a:t>학교·복지관도 갖출 수 있는 장비</a:t>
            </a:r>
            <a:endParaRPr lang="en-US" sz="1500" dirty="0"/>
          </a:p>
        </p:txBody>
      </p:sp>
      <p:sp>
        <p:nvSpPr>
          <p:cNvPr id="10" name="이유 구분선 3"/>
          <p:cNvSpPr/>
          <p:nvPr/>
        </p:nvSpPr>
        <p:spPr>
          <a:xfrm>
            <a:off x="6400800" y="3886200"/>
            <a:ext cx="5102352" cy="0"/>
          </a:xfrm>
          <a:prstGeom prst="line">
            <a:avLst/>
          </a:prstGeom>
          <a:noFill/>
          <a:ln w="12700">
            <a:solidFill>
              <a:schemeClr val="accent1"/>
            </a:solidFill>
            <a:prstDash val="solid"/>
          </a:ln>
        </p:spPr>
      </p:sp>
      <p:sp>
        <p:nvSpPr>
          <p:cNvPr id="11" name="이유 3"/>
          <p:cNvSpPr txBox="1"/>
          <p:nvPr/>
        </p:nvSpPr>
        <p:spPr>
          <a:xfrm>
            <a:off x="6400800" y="4069080"/>
            <a:ext cx="5102352" cy="411480"/>
          </a:xfrm>
          <a:prstGeom prst="rect">
            <a:avLst/>
          </a:prstGeom>
          <a:noFill/>
          <a:ln/>
        </p:spPr>
        <p:txBody>
          <a:bodyPr wrap="square" lIns="0" tIns="0" rIns="0" bIns="0" rtlCol="0" anchor="t"/>
          <a:lstStyle/>
          <a:p>
            <a:pPr indent="0" marL="0">
              <a:buNone/>
            </a:pPr>
            <a:r>
              <a:rPr lang="en-US" sz="2200" b="1" dirty="0">
                <a:solidFill>
                  <a:schemeClr val="tx1"/>
                </a:solidFill>
              </a:rPr>
              <a:t>열린 설계</a:t>
            </a:r>
            <a:endParaRPr lang="en-US" sz="2200" dirty="0"/>
          </a:p>
        </p:txBody>
      </p:sp>
      <p:sp>
        <p:nvSpPr>
          <p:cNvPr id="12" name="이유 3 설명"/>
          <p:cNvSpPr txBox="1"/>
          <p:nvPr/>
        </p:nvSpPr>
        <p:spPr>
          <a:xfrm>
            <a:off x="6400800" y="4526280"/>
            <a:ext cx="5102352" cy="320040"/>
          </a:xfrm>
          <a:prstGeom prst="rect">
            <a:avLst/>
          </a:prstGeom>
          <a:noFill/>
          <a:ln/>
        </p:spPr>
        <p:txBody>
          <a:bodyPr wrap="square" lIns="0" tIns="0" rIns="0" bIns="0" rtlCol="0" anchor="t"/>
          <a:lstStyle/>
          <a:p>
            <a:pPr indent="0" marL="0">
              <a:buNone/>
            </a:pPr>
            <a:r>
              <a:rPr lang="en-US" sz="1500" dirty="0">
                <a:solidFill>
                  <a:schemeClr val="tx2"/>
                </a:solidFill>
              </a:rPr>
              <a:t>설계를 공개해 누구나 제작</a:t>
            </a:r>
            <a:endParaRPr lang="en-US" sz="1500" dirty="0"/>
          </a:p>
        </p:txBody>
      </p:sp>
      <p:sp>
        <p:nvSpPr>
          <p:cNvPr id="13" name="이유 구분선 끝"/>
          <p:cNvSpPr/>
          <p:nvPr/>
        </p:nvSpPr>
        <p:spPr>
          <a:xfrm>
            <a:off x="6400800" y="4983480"/>
            <a:ext cx="5102352" cy="0"/>
          </a:xfrm>
          <a:prstGeom prst="line">
            <a:avLst/>
          </a:prstGeom>
          <a:noFill/>
          <a:ln w="12700">
            <a:solidFill>
              <a:schemeClr val="accent1"/>
            </a:solidFill>
            <a:prstDash val="solid"/>
          </a:ln>
        </p:spPr>
      </p:sp>
      <p:sp>
        <p:nvSpPr>
          <p:cNvPr id="14" name="작동 방식 구분선"/>
          <p:cNvSpPr/>
          <p:nvPr/>
        </p:nvSpPr>
        <p:spPr>
          <a:xfrm>
            <a:off x="685800" y="5257800"/>
            <a:ext cx="10817352" cy="0"/>
          </a:xfrm>
          <a:prstGeom prst="line">
            <a:avLst/>
          </a:prstGeom>
          <a:noFill/>
          <a:ln w="12700">
            <a:solidFill>
              <a:schemeClr val="accent1"/>
            </a:solidFill>
            <a:prstDash val="solid"/>
          </a:ln>
        </p:spPr>
      </p:sp>
      <p:sp>
        <p:nvSpPr>
          <p:cNvPr id="15" name="작동 방식 라벨"/>
          <p:cNvSpPr txBox="1"/>
          <p:nvPr/>
        </p:nvSpPr>
        <p:spPr>
          <a:xfrm>
            <a:off x="685800" y="5440680"/>
            <a:ext cx="2743200" cy="274320"/>
          </a:xfrm>
          <a:prstGeom prst="rect">
            <a:avLst/>
          </a:prstGeom>
          <a:noFill/>
          <a:ln/>
        </p:spPr>
        <p:txBody>
          <a:bodyPr wrap="square" lIns="0" tIns="0" rIns="0" bIns="0" rtlCol="0" anchor="t"/>
          <a:lstStyle/>
          <a:p>
            <a:pPr indent="0" marL="0">
              <a:buNone/>
            </a:pPr>
            <a:r>
              <a:rPr lang="en-US" sz="1300" dirty="0">
                <a:solidFill>
                  <a:schemeClr val="tx2"/>
                </a:solidFill>
              </a:rPr>
              <a:t>작동 방식</a:t>
            </a:r>
            <a:endParaRPr lang="en-US" sz="1300" dirty="0"/>
          </a:p>
        </p:txBody>
      </p:sp>
      <p:sp>
        <p:nvSpPr>
          <p:cNvPr id="16" name="작동 방식"/>
          <p:cNvSpPr txBox="1"/>
          <p:nvPr/>
        </p:nvSpPr>
        <p:spPr>
          <a:xfrm>
            <a:off x="685800" y="5779008"/>
            <a:ext cx="10817352" cy="411480"/>
          </a:xfrm>
          <a:prstGeom prst="rect">
            <a:avLst/>
          </a:prstGeom>
          <a:noFill/>
          <a:ln/>
        </p:spPr>
        <p:txBody>
          <a:bodyPr wrap="square" lIns="0" tIns="0" rIns="0" bIns="0" rtlCol="0" anchor="t"/>
          <a:lstStyle/>
          <a:p>
            <a:pPr indent="0" marL="0">
              <a:buNone/>
            </a:pPr>
            <a:r>
              <a:rPr lang="en-US" sz="1900" dirty="0">
                <a:solidFill>
                  <a:schemeClr val="tx1"/>
                </a:solidFill>
              </a:rPr>
              <a:t>게임의 신호를 아두이노가 받아 모터를 돌리고, 벨트가 그 힘을 핸들에 전달합니다</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5669280" cy="685800"/>
          </a:xfrm>
          <a:prstGeom prst="rect">
            <a:avLst/>
          </a:prstGeom>
          <a:noFill/>
          <a:ln/>
        </p:spPr>
        <p:txBody>
          <a:bodyPr wrap="square" lIns="0" tIns="0" rIns="0" bIns="0" rtlCol="0" anchor="t"/>
          <a:lstStyle/>
          <a:p>
            <a:pPr algn="l" indent="0" marL="0">
              <a:buNone/>
            </a:pPr>
            <a:r>
              <a:rPr lang="en-US" sz="3200" b="1" dirty="0">
                <a:solidFill>
                  <a:schemeClr val="tx1"/>
                </a:solidFill>
              </a:rPr>
              <a:t>사용자와 사용 이유</a:t>
            </a:r>
            <a:endParaRPr lang="en-US" sz="3200" dirty="0"/>
          </a:p>
        </p:txBody>
      </p:sp>
      <p:sp>
        <p:nvSpPr>
          <p:cNvPr id="3" name="쓰는 사람 라벨"/>
          <p:cNvSpPr txBox="1"/>
          <p:nvPr/>
        </p:nvSpPr>
        <p:spPr>
          <a:xfrm>
            <a:off x="685800" y="1600200"/>
            <a:ext cx="3657600" cy="274320"/>
          </a:xfrm>
          <a:prstGeom prst="rect">
            <a:avLst/>
          </a:prstGeom>
          <a:noFill/>
          <a:ln/>
        </p:spPr>
        <p:txBody>
          <a:bodyPr wrap="square" lIns="0" tIns="0" rIns="0" bIns="0" rtlCol="0" anchor="t"/>
          <a:lstStyle/>
          <a:p>
            <a:pPr indent="0" marL="0">
              <a:buNone/>
            </a:pPr>
            <a:r>
              <a:rPr lang="en-US" sz="1300" dirty="0">
                <a:solidFill>
                  <a:schemeClr val="tx2"/>
                </a:solidFill>
              </a:rPr>
              <a:t>쓰는 사람</a:t>
            </a:r>
            <a:endParaRPr lang="en-US" sz="1300" dirty="0"/>
          </a:p>
        </p:txBody>
      </p:sp>
      <p:sp>
        <p:nvSpPr>
          <p:cNvPr id="4" name="쓰는 사람 구분선 1"/>
          <p:cNvSpPr/>
          <p:nvPr/>
        </p:nvSpPr>
        <p:spPr>
          <a:xfrm>
            <a:off x="685800" y="1965960"/>
            <a:ext cx="3931920" cy="0"/>
          </a:xfrm>
          <a:prstGeom prst="line">
            <a:avLst/>
          </a:prstGeom>
          <a:noFill/>
          <a:ln w="12700">
            <a:solidFill>
              <a:schemeClr val="accent1"/>
            </a:solidFill>
            <a:prstDash val="solid"/>
          </a:ln>
        </p:spPr>
      </p:sp>
      <p:sp>
        <p:nvSpPr>
          <p:cNvPr id="5" name="쓰는 사람 1"/>
          <p:cNvSpPr txBox="1"/>
          <p:nvPr/>
        </p:nvSpPr>
        <p:spPr>
          <a:xfrm>
            <a:off x="685800" y="2148840"/>
            <a:ext cx="3931920" cy="411480"/>
          </a:xfrm>
          <a:prstGeom prst="rect">
            <a:avLst/>
          </a:prstGeom>
          <a:noFill/>
          <a:ln/>
        </p:spPr>
        <p:txBody>
          <a:bodyPr wrap="square" lIns="0" tIns="0" rIns="0" bIns="0" rtlCol="0" anchor="t"/>
          <a:lstStyle/>
          <a:p>
            <a:pPr indent="0" marL="0">
              <a:buNone/>
            </a:pPr>
            <a:r>
              <a:rPr lang="en-US" sz="2200" b="1" dirty="0">
                <a:solidFill>
                  <a:schemeClr val="tx1"/>
                </a:solidFill>
              </a:rPr>
              <a:t>초보 운전자</a:t>
            </a:r>
            <a:endParaRPr lang="en-US" sz="2200" dirty="0"/>
          </a:p>
        </p:txBody>
      </p:sp>
      <p:sp>
        <p:nvSpPr>
          <p:cNvPr id="6" name="쓰는 사람 구분선 2"/>
          <p:cNvSpPr/>
          <p:nvPr/>
        </p:nvSpPr>
        <p:spPr>
          <a:xfrm>
            <a:off x="685800" y="2715768"/>
            <a:ext cx="3931920" cy="0"/>
          </a:xfrm>
          <a:prstGeom prst="line">
            <a:avLst/>
          </a:prstGeom>
          <a:noFill/>
          <a:ln w="12700">
            <a:solidFill>
              <a:schemeClr val="accent1"/>
            </a:solidFill>
            <a:prstDash val="solid"/>
          </a:ln>
        </p:spPr>
      </p:sp>
      <p:sp>
        <p:nvSpPr>
          <p:cNvPr id="7" name="쓰는 사람 2"/>
          <p:cNvSpPr txBox="1"/>
          <p:nvPr/>
        </p:nvSpPr>
        <p:spPr>
          <a:xfrm>
            <a:off x="685800" y="2898648"/>
            <a:ext cx="3931920" cy="411480"/>
          </a:xfrm>
          <a:prstGeom prst="rect">
            <a:avLst/>
          </a:prstGeom>
          <a:noFill/>
          <a:ln/>
        </p:spPr>
        <p:txBody>
          <a:bodyPr wrap="square" lIns="0" tIns="0" rIns="0" bIns="0" rtlCol="0" anchor="t"/>
          <a:lstStyle/>
          <a:p>
            <a:pPr indent="0" marL="0">
              <a:buNone/>
            </a:pPr>
            <a:r>
              <a:rPr lang="en-US" sz="2200" b="1" dirty="0">
                <a:solidFill>
                  <a:schemeClr val="tx1"/>
                </a:solidFill>
              </a:rPr>
              <a:t>고령 운전자</a:t>
            </a:r>
            <a:endParaRPr lang="en-US" sz="2200" dirty="0"/>
          </a:p>
        </p:txBody>
      </p:sp>
      <p:sp>
        <p:nvSpPr>
          <p:cNvPr id="8" name="쓰는 사람 구분선 3"/>
          <p:cNvSpPr/>
          <p:nvPr/>
        </p:nvSpPr>
        <p:spPr>
          <a:xfrm>
            <a:off x="685800" y="3465576"/>
            <a:ext cx="3931920" cy="0"/>
          </a:xfrm>
          <a:prstGeom prst="line">
            <a:avLst/>
          </a:prstGeom>
          <a:noFill/>
          <a:ln w="12700">
            <a:solidFill>
              <a:schemeClr val="accent1"/>
            </a:solidFill>
            <a:prstDash val="solid"/>
          </a:ln>
        </p:spPr>
      </p:sp>
      <p:sp>
        <p:nvSpPr>
          <p:cNvPr id="9" name="쓰는 사람 3"/>
          <p:cNvSpPr txBox="1"/>
          <p:nvPr/>
        </p:nvSpPr>
        <p:spPr>
          <a:xfrm>
            <a:off x="685800" y="3648456"/>
            <a:ext cx="3931920" cy="411480"/>
          </a:xfrm>
          <a:prstGeom prst="rect">
            <a:avLst/>
          </a:prstGeom>
          <a:noFill/>
          <a:ln/>
        </p:spPr>
        <p:txBody>
          <a:bodyPr wrap="square" lIns="0" tIns="0" rIns="0" bIns="0" rtlCol="0" anchor="t"/>
          <a:lstStyle/>
          <a:p>
            <a:pPr indent="0" marL="0">
              <a:buNone/>
            </a:pPr>
            <a:r>
              <a:rPr lang="en-US" sz="2200" b="1" dirty="0">
                <a:solidFill>
                  <a:schemeClr val="tx1"/>
                </a:solidFill>
              </a:rPr>
              <a:t>학생</a:t>
            </a:r>
            <a:endParaRPr lang="en-US" sz="2200" dirty="0"/>
          </a:p>
        </p:txBody>
      </p:sp>
      <p:sp>
        <p:nvSpPr>
          <p:cNvPr id="10" name="쓰는 사람 구분선 4"/>
          <p:cNvSpPr/>
          <p:nvPr/>
        </p:nvSpPr>
        <p:spPr>
          <a:xfrm>
            <a:off x="685800" y="4215384"/>
            <a:ext cx="3931920" cy="0"/>
          </a:xfrm>
          <a:prstGeom prst="line">
            <a:avLst/>
          </a:prstGeom>
          <a:noFill/>
          <a:ln w="12700">
            <a:solidFill>
              <a:schemeClr val="accent1"/>
            </a:solidFill>
            <a:prstDash val="solid"/>
          </a:ln>
        </p:spPr>
      </p:sp>
      <p:sp>
        <p:nvSpPr>
          <p:cNvPr id="11" name="쓰는 사람 4"/>
          <p:cNvSpPr txBox="1"/>
          <p:nvPr/>
        </p:nvSpPr>
        <p:spPr>
          <a:xfrm>
            <a:off x="685800" y="4398264"/>
            <a:ext cx="3931920" cy="411480"/>
          </a:xfrm>
          <a:prstGeom prst="rect">
            <a:avLst/>
          </a:prstGeom>
          <a:noFill/>
          <a:ln/>
        </p:spPr>
        <p:txBody>
          <a:bodyPr wrap="square" lIns="0" tIns="0" rIns="0" bIns="0" rtlCol="0" anchor="t"/>
          <a:lstStyle/>
          <a:p>
            <a:pPr indent="0" marL="0">
              <a:buNone/>
            </a:pPr>
            <a:r>
              <a:rPr lang="en-US" sz="2200" b="1" dirty="0">
                <a:solidFill>
                  <a:schemeClr val="tx1"/>
                </a:solidFill>
              </a:rPr>
              <a:t>게임 이용자</a:t>
            </a:r>
            <a:endParaRPr lang="en-US" sz="2200" dirty="0"/>
          </a:p>
        </p:txBody>
      </p:sp>
      <p:sp>
        <p:nvSpPr>
          <p:cNvPr id="12" name="쓰는 사람 구분선 끝"/>
          <p:cNvSpPr/>
          <p:nvPr/>
        </p:nvSpPr>
        <p:spPr>
          <a:xfrm>
            <a:off x="685800" y="4965192"/>
            <a:ext cx="3931920" cy="0"/>
          </a:xfrm>
          <a:prstGeom prst="line">
            <a:avLst/>
          </a:prstGeom>
          <a:noFill/>
          <a:ln w="12700">
            <a:solidFill>
              <a:schemeClr val="accent1"/>
            </a:solidFill>
            <a:prstDash val="solid"/>
          </a:ln>
        </p:spPr>
      </p:sp>
      <p:sp>
        <p:nvSpPr>
          <p:cNvPr id="13" name="쓰는 이유 라벨"/>
          <p:cNvSpPr txBox="1"/>
          <p:nvPr/>
        </p:nvSpPr>
        <p:spPr>
          <a:xfrm>
            <a:off x="5257800" y="1600200"/>
            <a:ext cx="3657600" cy="274320"/>
          </a:xfrm>
          <a:prstGeom prst="rect">
            <a:avLst/>
          </a:prstGeom>
          <a:noFill/>
          <a:ln/>
        </p:spPr>
        <p:txBody>
          <a:bodyPr wrap="square" lIns="0" tIns="0" rIns="0" bIns="0" rtlCol="0" anchor="t"/>
          <a:lstStyle/>
          <a:p>
            <a:pPr indent="0" marL="0">
              <a:buNone/>
            </a:pPr>
            <a:r>
              <a:rPr lang="en-US" sz="1300" dirty="0">
                <a:solidFill>
                  <a:schemeClr val="tx2"/>
                </a:solidFill>
              </a:rPr>
              <a:t>쓰는 이유</a:t>
            </a:r>
            <a:endParaRPr lang="en-US" sz="1300" dirty="0"/>
          </a:p>
        </p:txBody>
      </p:sp>
      <p:sp>
        <p:nvSpPr>
          <p:cNvPr id="14" name="쓰는 이유 구분선 1"/>
          <p:cNvSpPr/>
          <p:nvPr/>
        </p:nvSpPr>
        <p:spPr>
          <a:xfrm>
            <a:off x="5257800" y="1965960"/>
            <a:ext cx="3931920" cy="0"/>
          </a:xfrm>
          <a:prstGeom prst="line">
            <a:avLst/>
          </a:prstGeom>
          <a:noFill/>
          <a:ln w="12700">
            <a:solidFill>
              <a:schemeClr val="accent1"/>
            </a:solidFill>
            <a:prstDash val="solid"/>
          </a:ln>
        </p:spPr>
      </p:sp>
      <p:sp>
        <p:nvSpPr>
          <p:cNvPr id="15" name="쓰는 이유 1"/>
          <p:cNvSpPr txBox="1"/>
          <p:nvPr/>
        </p:nvSpPr>
        <p:spPr>
          <a:xfrm>
            <a:off x="5257800" y="2148840"/>
            <a:ext cx="3931920" cy="411480"/>
          </a:xfrm>
          <a:prstGeom prst="rect">
            <a:avLst/>
          </a:prstGeom>
          <a:noFill/>
          <a:ln/>
        </p:spPr>
        <p:txBody>
          <a:bodyPr wrap="square" lIns="0" tIns="0" rIns="0" bIns="0" rtlCol="0" anchor="t"/>
          <a:lstStyle/>
          <a:p>
            <a:pPr indent="0" marL="0">
              <a:buNone/>
            </a:pPr>
            <a:r>
              <a:rPr lang="en-US" sz="2200" b="1" dirty="0">
                <a:solidFill>
                  <a:schemeClr val="tx1"/>
                </a:solidFill>
              </a:rPr>
              <a:t>실제 같은 손맛</a:t>
            </a:r>
            <a:endParaRPr lang="en-US" sz="2200" dirty="0"/>
          </a:p>
        </p:txBody>
      </p:sp>
      <p:sp>
        <p:nvSpPr>
          <p:cNvPr id="16" name="쓰는 이유 구분선 2"/>
          <p:cNvSpPr/>
          <p:nvPr/>
        </p:nvSpPr>
        <p:spPr>
          <a:xfrm>
            <a:off x="5257800" y="2715768"/>
            <a:ext cx="3931920" cy="0"/>
          </a:xfrm>
          <a:prstGeom prst="line">
            <a:avLst/>
          </a:prstGeom>
          <a:noFill/>
          <a:ln w="12700">
            <a:solidFill>
              <a:schemeClr val="accent1"/>
            </a:solidFill>
            <a:prstDash val="solid"/>
          </a:ln>
        </p:spPr>
      </p:sp>
      <p:sp>
        <p:nvSpPr>
          <p:cNvPr id="17" name="쓰는 이유 2"/>
          <p:cNvSpPr txBox="1"/>
          <p:nvPr/>
        </p:nvSpPr>
        <p:spPr>
          <a:xfrm>
            <a:off x="5257800" y="2898648"/>
            <a:ext cx="3931920" cy="411480"/>
          </a:xfrm>
          <a:prstGeom prst="rect">
            <a:avLst/>
          </a:prstGeom>
          <a:noFill/>
          <a:ln/>
        </p:spPr>
        <p:txBody>
          <a:bodyPr wrap="square" lIns="0" tIns="0" rIns="0" bIns="0" rtlCol="0" anchor="t"/>
          <a:lstStyle/>
          <a:p>
            <a:pPr indent="0" marL="0">
              <a:buNone/>
            </a:pPr>
            <a:r>
              <a:rPr lang="en-US" sz="2200" b="1" dirty="0">
                <a:solidFill>
                  <a:schemeClr val="tx1"/>
                </a:solidFill>
              </a:rPr>
              <a:t>정밀한 조향</a:t>
            </a:r>
            <a:endParaRPr lang="en-US" sz="2200" dirty="0"/>
          </a:p>
        </p:txBody>
      </p:sp>
      <p:sp>
        <p:nvSpPr>
          <p:cNvPr id="18" name="쓰는 이유 구분선 3"/>
          <p:cNvSpPr/>
          <p:nvPr/>
        </p:nvSpPr>
        <p:spPr>
          <a:xfrm>
            <a:off x="5257800" y="3465576"/>
            <a:ext cx="3931920" cy="0"/>
          </a:xfrm>
          <a:prstGeom prst="line">
            <a:avLst/>
          </a:prstGeom>
          <a:noFill/>
          <a:ln w="12700">
            <a:solidFill>
              <a:schemeClr val="accent1"/>
            </a:solidFill>
            <a:prstDash val="solid"/>
          </a:ln>
        </p:spPr>
      </p:sp>
      <p:sp>
        <p:nvSpPr>
          <p:cNvPr id="19" name="쓰는 이유 3"/>
          <p:cNvSpPr txBox="1"/>
          <p:nvPr/>
        </p:nvSpPr>
        <p:spPr>
          <a:xfrm>
            <a:off x="5257800" y="3648456"/>
            <a:ext cx="3931920" cy="411480"/>
          </a:xfrm>
          <a:prstGeom prst="rect">
            <a:avLst/>
          </a:prstGeom>
          <a:noFill/>
          <a:ln/>
        </p:spPr>
        <p:txBody>
          <a:bodyPr wrap="square" lIns="0" tIns="0" rIns="0" bIns="0" rtlCol="0" anchor="t"/>
          <a:lstStyle/>
          <a:p>
            <a:pPr indent="0" marL="0">
              <a:buNone/>
            </a:pPr>
            <a:r>
              <a:rPr lang="en-US" sz="2200" b="1" dirty="0">
                <a:solidFill>
                  <a:schemeClr val="tx1"/>
                </a:solidFill>
              </a:rPr>
              <a:t>사용자 맞춤</a:t>
            </a:r>
            <a:endParaRPr lang="en-US" sz="2200" dirty="0"/>
          </a:p>
        </p:txBody>
      </p:sp>
      <p:sp>
        <p:nvSpPr>
          <p:cNvPr id="20" name="쓰는 이유 구분선 끝"/>
          <p:cNvSpPr/>
          <p:nvPr/>
        </p:nvSpPr>
        <p:spPr>
          <a:xfrm>
            <a:off x="5257800" y="4215384"/>
            <a:ext cx="3931920" cy="0"/>
          </a:xfrm>
          <a:prstGeom prst="line">
            <a:avLst/>
          </a:prstGeom>
          <a:noFill/>
          <a:ln w="12700">
            <a:solidFill>
              <a:schemeClr val="accent1"/>
            </a:solidFill>
            <a:prstDash val="solid"/>
          </a:ln>
        </p:spPr>
      </p:sp>
      <p:pic>
        <p:nvPicPr>
          <p:cNvPr id="21" name="QR 코드" descr="tkdgh123.github.io/ffb-wheel 로 가는 QR 코드">    </p:cNvPr>
          <p:cNvPicPr>
            <a:picLocks noChangeAspect="1"/>
          </p:cNvPicPr>
          <p:nvPr/>
        </p:nvPicPr>
        <p:blipFill>
          <a:blip r:embed="rId1"/>
          <a:stretch>
            <a:fillRect/>
          </a:stretch>
        </p:blipFill>
        <p:spPr>
          <a:xfrm>
            <a:off x="10543032" y="4892040"/>
            <a:ext cx="960120" cy="960120"/>
          </a:xfrm>
          <a:prstGeom prst="rect">
            <a:avLst/>
          </a:prstGeom>
        </p:spPr>
      </p:pic>
      <p:sp>
        <p:nvSpPr>
          <p:cNvPr id="22" name="QR 설명"/>
          <p:cNvSpPr txBox="1"/>
          <p:nvPr/>
        </p:nvSpPr>
        <p:spPr>
          <a:xfrm>
            <a:off x="10543032" y="5943600"/>
            <a:ext cx="1463040" cy="256032"/>
          </a:xfrm>
          <a:prstGeom prst="rect">
            <a:avLst/>
          </a:prstGeom>
          <a:noFill/>
          <a:ln/>
        </p:spPr>
        <p:txBody>
          <a:bodyPr wrap="square" lIns="0" tIns="0" rIns="0" bIns="0" rtlCol="0" anchor="t"/>
          <a:lstStyle/>
          <a:p>
            <a:pPr indent="0" marL="0">
              <a:buNone/>
            </a:pPr>
            <a:r>
              <a:rPr lang="en-US" sz="1100" dirty="0">
                <a:solidFill>
                  <a:schemeClr val="tx2"/>
                </a:solidFill>
              </a:rPr>
              <a:t>3D 시뮬레이션</a:t>
            </a:r>
            <a:endParaRPr lang="en-US" sz="1100" dirty="0"/>
          </a:p>
        </p:txBody>
      </p:sp>
    </p:spTree>
  </p:cSld>
  <p:clrMapOvr>
    <a:masterClrMapping/>
  </p:clrMapOvr>
</p:sld>
</file>

<file path=ppt/theme/theme1.xml><?xml version="1.0" encoding="utf-8"?>
<a:theme xmlns:a="http://schemas.openxmlformats.org/drawingml/2006/main" name="FFB Mono">
  <a:themeElements>
    <a:clrScheme name="FFB Mono">
      <a:dk1>
        <a:srgbClr val="111111"/>
      </a:dk1>
      <a:lt1>
        <a:srgbClr val="FFFFFF"/>
      </a:lt1>
      <a:dk2>
        <a:srgbClr val="6E6E6E"/>
      </a:dk2>
      <a:lt2>
        <a:srgbClr val="F2F2F2"/>
      </a:lt2>
      <a:accent1>
        <a:srgbClr val="D4D4D4"/>
      </a:accent1>
      <a:accent2>
        <a:srgbClr val="A6A6A6"/>
      </a:accent2>
      <a:accent3>
        <a:srgbClr val="6E6E6E"/>
      </a:accent3>
      <a:accent4>
        <a:srgbClr val="3C3C3C"/>
      </a:accent4>
      <a:accent5>
        <a:srgbClr val="111111"/>
      </a:accent5>
      <a:accent6>
        <a:srgbClr val="BFBFBF"/>
      </a:accent6>
      <a:hlink>
        <a:srgbClr val="111111"/>
      </a:hlink>
      <a:folHlink>
        <a:srgbClr val="6E6E6E"/>
      </a:folHlink>
    </a:clrScheme>
    <a:fontScheme name="FFB Mono">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포스 피드백 레이싱 휠</dc:title>
  <dc:subject>PptxGenJS Presentation</dc:subject>
  <dc:creator>PptxGenJS</dc:creator>
  <cp:lastModifiedBy>PptxGenJS</cp:lastModifiedBy>
  <cp:revision>1</cp:revision>
  <dcterms:created xsi:type="dcterms:W3CDTF">2026-10-27T03:07:33Z</dcterms:created>
  <dcterms:modified xsi:type="dcterms:W3CDTF">2026-10-27T03:07:33Z</dcterms:modified>
</cp:coreProperties>
</file>