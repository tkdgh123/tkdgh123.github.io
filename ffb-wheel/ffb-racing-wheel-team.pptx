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 팀은 포스 피드백 레이싱 휠을 만듭니다. 게임 속 노면과 코너링의 힘을 모터로 핸들에 전달하는 아두이노 운전 장치입니다. 먼저 팀원을 소개하겠습니다. 황찬웅 학생은 소프트웨어를 맡아 펌웨어 설정과 캘리브레이션, 게임 연동을 담당합니다. 최민호 학생은 하드웨어를 맡아 모터와 전원 배선, 센서 연결, 안전 장치를 담당합니다. 김도영 학생은 기구와 시연을 맡아 프레임 조립과 페달 제작, 시연 진행을 담당합니다. 저 김창식은 기획을 맡아 요구사항 명세 작성과 3D 설계, 일정 관리와 발표를 담당합니다. 이제 저희가 이 휠을 만드는 이유를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이 휠을 누구나 쓸 수 있는 운전 연습 장비로 만들고자 합니다. 도로에 나가기 전에 안전한 곳에서 핸들 감각을 익힐 수 있고, 구하기 쉬운 부품으로 만들어 학교나 복지관에서도 부담 없이 갖출 수 있습니다. 또 설계를 공개해서 누구나 따라 만들 수 있게 하려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휠을 쓰는 사람은 네 부류입니다. 도로에 나가기 전 연습이 필요한 초보 운전자, 운전 감각을 유지하고 다시 교육받는 고령 운전자, 학교와 동아리에서 공학을 배우는 학생, 그리고 집에서 레이싱 게임을 즐기는 사람들입니다. 이들이 이 휠을 쓰는 이유는 세 가지입니다. 노면과 코너링의 힘이 핸들로 전해져 실제 같은 손맛을 주고, 핸들 각도를 세밀하게 읽어 정밀하게 조향할 수 있으며, 회전 범위와 힘 세기를 사용자에게 맞게 조절할 수 있습니다. 이상으로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N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5943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138160" y="470916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0916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594360"/>
          </a:xfrm>
          <a:prstGeom prst="rect">
            <a:avLst/>
          </a:prstGeom>
          <a:noFill/>
          <a:ln/>
        </p:spPr>
        <p:txBody>
          <a:bodyPr wrap="square" lIns="0" tIns="0" rIns="0" bIns="0" rtlCol="0" anchor="ctr"/>
          <a:lstStyle/>
          <a:p>
            <a:pPr algn="l" indent="0" marL="0">
              <a:buNone/>
            </a:pPr>
            <a:r>
              <a:rPr lang="en-US" sz="2800" b="1" dirty="0">
                <a:solidFill>
                  <a:schemeClr val="tx1"/>
                </a:solidFill>
              </a:rPr>
              <a:t>포스 피드백 레이싱 휠</a:t>
            </a:r>
            <a:endParaRPr lang="en-US" sz="2800" dirty="0"/>
          </a:p>
        </p:txBody>
      </p:sp>
      <p:sp>
        <p:nvSpPr>
          <p:cNvPr id="3" name="Text 1"/>
          <p:cNvSpPr txBox="1"/>
          <p:nvPr/>
        </p:nvSpPr>
        <p:spPr>
          <a:xfrm>
            <a:off x="548640" y="1051560"/>
            <a:ext cx="8046720" cy="274320"/>
          </a:xfrm>
          <a:prstGeom prst="rect">
            <a:avLst/>
          </a:prstGeom>
          <a:noFill/>
          <a:ln/>
        </p:spPr>
        <p:txBody>
          <a:bodyPr wrap="square" lIns="0" tIns="0" rIns="0" bIns="0" rtlCol="0" anchor="t"/>
          <a:lstStyle/>
          <a:p>
            <a:pPr indent="0" marL="0">
              <a:buNone/>
            </a:pPr>
            <a:r>
              <a:rPr lang="en-US" sz="1400" dirty="0">
                <a:solidFill>
                  <a:schemeClr val="accent2"/>
                </a:solidFill>
              </a:rPr>
              <a:t>게임 속 노면과 코너링의 힘을 모터로 핸들에 전달하는 아두이노 운전 장치</a:t>
            </a:r>
            <a:endParaRPr lang="en-US" sz="1400" dirty="0"/>
          </a:p>
        </p:txBody>
      </p:sp>
      <p:sp>
        <p:nvSpPr>
          <p:cNvPr id="4" name="Shape 2"/>
          <p:cNvSpPr/>
          <p:nvPr/>
        </p:nvSpPr>
        <p:spPr>
          <a:xfrm>
            <a:off x="548640" y="1554480"/>
            <a:ext cx="8046720" cy="0"/>
          </a:xfrm>
          <a:prstGeom prst="line">
            <a:avLst/>
          </a:prstGeom>
          <a:noFill/>
          <a:ln w="9525">
            <a:solidFill>
              <a:schemeClr val="tx1"/>
            </a:solidFill>
            <a:prstDash val="solid"/>
          </a:ln>
        </p:spPr>
      </p:sp>
      <p:sp>
        <p:nvSpPr>
          <p:cNvPr id="5" name="Text 3"/>
          <p:cNvSpPr txBox="1"/>
          <p:nvPr/>
        </p:nvSpPr>
        <p:spPr>
          <a:xfrm>
            <a:off x="548640" y="1874520"/>
            <a:ext cx="1645920" cy="256032"/>
          </a:xfrm>
          <a:prstGeom prst="rect">
            <a:avLst/>
          </a:prstGeom>
          <a:noFill/>
          <a:ln/>
        </p:spPr>
        <p:txBody>
          <a:bodyPr wrap="square" lIns="0" tIns="0" rIns="0" bIns="0" rtlCol="0" anchor="t"/>
          <a:lstStyle/>
          <a:p>
            <a:pPr indent="0" marL="0">
              <a:buNone/>
            </a:pPr>
            <a:r>
              <a:rPr lang="en-US" sz="1200" dirty="0">
                <a:solidFill>
                  <a:schemeClr val="accent2"/>
                </a:solidFill>
              </a:rPr>
              <a:t>소프트웨어</a:t>
            </a:r>
            <a:endParaRPr lang="en-US" sz="1200" dirty="0"/>
          </a:p>
        </p:txBody>
      </p:sp>
      <p:sp>
        <p:nvSpPr>
          <p:cNvPr id="6" name="Text 4"/>
          <p:cNvSpPr txBox="1"/>
          <p:nvPr/>
        </p:nvSpPr>
        <p:spPr>
          <a:xfrm>
            <a:off x="548640" y="2194560"/>
            <a:ext cx="1645920" cy="502920"/>
          </a:xfrm>
          <a:prstGeom prst="rect">
            <a:avLst/>
          </a:prstGeom>
          <a:noFill/>
          <a:ln/>
        </p:spPr>
        <p:txBody>
          <a:bodyPr wrap="square" lIns="0" tIns="0" rIns="0" bIns="0" rtlCol="0" anchor="ctr"/>
          <a:lstStyle/>
          <a:p>
            <a:pPr indent="0" marL="0">
              <a:buNone/>
            </a:pPr>
            <a:r>
              <a:rPr lang="en-US" sz="2600" b="1" dirty="0">
                <a:solidFill>
                  <a:schemeClr val="tx1"/>
                </a:solidFill>
              </a:rPr>
              <a:t>황찬웅</a:t>
            </a:r>
            <a:endParaRPr lang="en-US" sz="2600" dirty="0"/>
          </a:p>
        </p:txBody>
      </p:sp>
      <p:sp>
        <p:nvSpPr>
          <p:cNvPr id="7" name="Text 5"/>
          <p:cNvSpPr txBox="1"/>
          <p:nvPr/>
        </p:nvSpPr>
        <p:spPr>
          <a:xfrm>
            <a:off x="548640" y="3017520"/>
            <a:ext cx="1645920" cy="1188720"/>
          </a:xfrm>
          <a:prstGeom prst="rect">
            <a:avLst/>
          </a:prstGeom>
          <a:noFill/>
          <a:ln/>
        </p:spPr>
        <p:txBody>
          <a:bodyPr wrap="square" lIns="0" tIns="0" rIns="0" bIns="0" rtlCol="0" anchor="t"/>
          <a:lstStyle/>
          <a:p>
            <a:pPr indent="0" marL="0">
              <a:lnSpc>
                <a:spcPct val="145000"/>
              </a:lnSpc>
              <a:buNone/>
            </a:pPr>
            <a:r>
              <a:rPr lang="en-US" sz="1400" dirty="0">
                <a:solidFill>
                  <a:schemeClr val="tx2"/>
                </a:solidFill>
              </a:rPr>
              <a:t>펌웨어</a:t>
            </a:r>
            <a:endParaRPr lang="en-US" sz="1400" dirty="0"/>
          </a:p>
          <a:p>
            <a:pPr indent="0" marL="0">
              <a:lnSpc>
                <a:spcPct val="145000"/>
              </a:lnSpc>
              <a:buNone/>
            </a:pPr>
            <a:r>
              <a:rPr lang="en-US" sz="1400" dirty="0">
                <a:solidFill>
                  <a:schemeClr val="tx2"/>
                </a:solidFill>
              </a:rPr>
              <a:t>캘리브레이션</a:t>
            </a:r>
            <a:endParaRPr lang="en-US" sz="1400" dirty="0"/>
          </a:p>
          <a:p>
            <a:pPr indent="0" marL="0">
              <a:lnSpc>
                <a:spcPct val="145000"/>
              </a:lnSpc>
              <a:buNone/>
            </a:pPr>
            <a:r>
              <a:rPr lang="en-US" sz="1400" dirty="0">
                <a:solidFill>
                  <a:schemeClr val="tx2"/>
                </a:solidFill>
              </a:rPr>
              <a:t>게임 연동</a:t>
            </a:r>
            <a:endParaRPr lang="en-US" sz="1400" dirty="0"/>
          </a:p>
        </p:txBody>
      </p:sp>
      <p:sp>
        <p:nvSpPr>
          <p:cNvPr id="8" name="Shape 6"/>
          <p:cNvSpPr/>
          <p:nvPr/>
        </p:nvSpPr>
        <p:spPr>
          <a:xfrm>
            <a:off x="2560320" y="1874520"/>
            <a:ext cx="0" cy="2514600"/>
          </a:xfrm>
          <a:prstGeom prst="line">
            <a:avLst/>
          </a:prstGeom>
          <a:noFill/>
          <a:ln w="9525">
            <a:solidFill>
              <a:schemeClr val="accent6"/>
            </a:solidFill>
            <a:prstDash val="solid"/>
          </a:ln>
        </p:spPr>
      </p:sp>
      <p:sp>
        <p:nvSpPr>
          <p:cNvPr id="9" name="Text 7"/>
          <p:cNvSpPr txBox="1"/>
          <p:nvPr/>
        </p:nvSpPr>
        <p:spPr>
          <a:xfrm>
            <a:off x="2834640" y="1874520"/>
            <a:ext cx="1645920" cy="256032"/>
          </a:xfrm>
          <a:prstGeom prst="rect">
            <a:avLst/>
          </a:prstGeom>
          <a:noFill/>
          <a:ln/>
        </p:spPr>
        <p:txBody>
          <a:bodyPr wrap="square" lIns="0" tIns="0" rIns="0" bIns="0" rtlCol="0" anchor="t"/>
          <a:lstStyle/>
          <a:p>
            <a:pPr indent="0" marL="0">
              <a:buNone/>
            </a:pPr>
            <a:r>
              <a:rPr lang="en-US" sz="1200" dirty="0">
                <a:solidFill>
                  <a:schemeClr val="accent2"/>
                </a:solidFill>
              </a:rPr>
              <a:t>하드웨어</a:t>
            </a:r>
            <a:endParaRPr lang="en-US" sz="1200" dirty="0"/>
          </a:p>
        </p:txBody>
      </p:sp>
      <p:sp>
        <p:nvSpPr>
          <p:cNvPr id="10" name="Text 8"/>
          <p:cNvSpPr txBox="1"/>
          <p:nvPr/>
        </p:nvSpPr>
        <p:spPr>
          <a:xfrm>
            <a:off x="2834640" y="2194560"/>
            <a:ext cx="1645920" cy="502920"/>
          </a:xfrm>
          <a:prstGeom prst="rect">
            <a:avLst/>
          </a:prstGeom>
          <a:noFill/>
          <a:ln/>
        </p:spPr>
        <p:txBody>
          <a:bodyPr wrap="square" lIns="0" tIns="0" rIns="0" bIns="0" rtlCol="0" anchor="ctr"/>
          <a:lstStyle/>
          <a:p>
            <a:pPr indent="0" marL="0">
              <a:buNone/>
            </a:pPr>
            <a:r>
              <a:rPr lang="en-US" sz="2600" b="1" dirty="0">
                <a:solidFill>
                  <a:schemeClr val="tx1"/>
                </a:solidFill>
              </a:rPr>
              <a:t>최민호</a:t>
            </a:r>
            <a:endParaRPr lang="en-US" sz="2600" dirty="0"/>
          </a:p>
        </p:txBody>
      </p:sp>
      <p:sp>
        <p:nvSpPr>
          <p:cNvPr id="11" name="Text 9"/>
          <p:cNvSpPr txBox="1"/>
          <p:nvPr/>
        </p:nvSpPr>
        <p:spPr>
          <a:xfrm>
            <a:off x="2834640" y="3017520"/>
            <a:ext cx="1645920" cy="1188720"/>
          </a:xfrm>
          <a:prstGeom prst="rect">
            <a:avLst/>
          </a:prstGeom>
          <a:noFill/>
          <a:ln/>
        </p:spPr>
        <p:txBody>
          <a:bodyPr wrap="square" lIns="0" tIns="0" rIns="0" bIns="0" rtlCol="0" anchor="t"/>
          <a:lstStyle/>
          <a:p>
            <a:pPr indent="0" marL="0">
              <a:lnSpc>
                <a:spcPct val="145000"/>
              </a:lnSpc>
              <a:buNone/>
            </a:pPr>
            <a:r>
              <a:rPr lang="en-US" sz="1400" dirty="0">
                <a:solidFill>
                  <a:schemeClr val="tx2"/>
                </a:solidFill>
              </a:rPr>
              <a:t>모터·전원 배선</a:t>
            </a:r>
            <a:endParaRPr lang="en-US" sz="1400" dirty="0"/>
          </a:p>
          <a:p>
            <a:pPr indent="0" marL="0">
              <a:lnSpc>
                <a:spcPct val="145000"/>
              </a:lnSpc>
              <a:buNone/>
            </a:pPr>
            <a:r>
              <a:rPr lang="en-US" sz="1400" dirty="0">
                <a:solidFill>
                  <a:schemeClr val="tx2"/>
                </a:solidFill>
              </a:rPr>
              <a:t>센서 연결</a:t>
            </a:r>
            <a:endParaRPr lang="en-US" sz="1400" dirty="0"/>
          </a:p>
          <a:p>
            <a:pPr indent="0" marL="0">
              <a:lnSpc>
                <a:spcPct val="145000"/>
              </a:lnSpc>
              <a:buNone/>
            </a:pPr>
            <a:r>
              <a:rPr lang="en-US" sz="1400" dirty="0">
                <a:solidFill>
                  <a:schemeClr val="tx2"/>
                </a:solidFill>
              </a:rPr>
              <a:t>안전 장치</a:t>
            </a:r>
            <a:endParaRPr lang="en-US" sz="1400" dirty="0"/>
          </a:p>
        </p:txBody>
      </p:sp>
      <p:sp>
        <p:nvSpPr>
          <p:cNvPr id="12" name="Shape 10"/>
          <p:cNvSpPr/>
          <p:nvPr/>
        </p:nvSpPr>
        <p:spPr>
          <a:xfrm>
            <a:off x="4572000" y="1874520"/>
            <a:ext cx="0" cy="2514600"/>
          </a:xfrm>
          <a:prstGeom prst="line">
            <a:avLst/>
          </a:prstGeom>
          <a:noFill/>
          <a:ln w="9525">
            <a:solidFill>
              <a:schemeClr val="accent6"/>
            </a:solidFill>
            <a:prstDash val="solid"/>
          </a:ln>
        </p:spPr>
      </p:sp>
      <p:sp>
        <p:nvSpPr>
          <p:cNvPr id="13" name="Text 11"/>
          <p:cNvSpPr txBox="1"/>
          <p:nvPr/>
        </p:nvSpPr>
        <p:spPr>
          <a:xfrm>
            <a:off x="4846320" y="1874520"/>
            <a:ext cx="1645920" cy="256032"/>
          </a:xfrm>
          <a:prstGeom prst="rect">
            <a:avLst/>
          </a:prstGeom>
          <a:noFill/>
          <a:ln/>
        </p:spPr>
        <p:txBody>
          <a:bodyPr wrap="square" lIns="0" tIns="0" rIns="0" bIns="0" rtlCol="0" anchor="t"/>
          <a:lstStyle/>
          <a:p>
            <a:pPr indent="0" marL="0">
              <a:buNone/>
            </a:pPr>
            <a:r>
              <a:rPr lang="en-US" sz="1200" dirty="0">
                <a:solidFill>
                  <a:schemeClr val="accent2"/>
                </a:solidFill>
              </a:rPr>
              <a:t>기구 / 시연</a:t>
            </a:r>
            <a:endParaRPr lang="en-US" sz="1200" dirty="0"/>
          </a:p>
        </p:txBody>
      </p:sp>
      <p:sp>
        <p:nvSpPr>
          <p:cNvPr id="14" name="Text 12"/>
          <p:cNvSpPr txBox="1"/>
          <p:nvPr/>
        </p:nvSpPr>
        <p:spPr>
          <a:xfrm>
            <a:off x="4846320" y="2194560"/>
            <a:ext cx="1645920" cy="502920"/>
          </a:xfrm>
          <a:prstGeom prst="rect">
            <a:avLst/>
          </a:prstGeom>
          <a:noFill/>
          <a:ln/>
        </p:spPr>
        <p:txBody>
          <a:bodyPr wrap="square" lIns="0" tIns="0" rIns="0" bIns="0" rtlCol="0" anchor="ctr"/>
          <a:lstStyle/>
          <a:p>
            <a:pPr indent="0" marL="0">
              <a:buNone/>
            </a:pPr>
            <a:r>
              <a:rPr lang="en-US" sz="2600" b="1" dirty="0">
                <a:solidFill>
                  <a:schemeClr val="tx1"/>
                </a:solidFill>
              </a:rPr>
              <a:t>김도영</a:t>
            </a:r>
            <a:endParaRPr lang="en-US" sz="2600" dirty="0"/>
          </a:p>
        </p:txBody>
      </p:sp>
      <p:sp>
        <p:nvSpPr>
          <p:cNvPr id="15" name="Text 13"/>
          <p:cNvSpPr txBox="1"/>
          <p:nvPr/>
        </p:nvSpPr>
        <p:spPr>
          <a:xfrm>
            <a:off x="4846320" y="3017520"/>
            <a:ext cx="1645920" cy="1188720"/>
          </a:xfrm>
          <a:prstGeom prst="rect">
            <a:avLst/>
          </a:prstGeom>
          <a:noFill/>
          <a:ln/>
        </p:spPr>
        <p:txBody>
          <a:bodyPr wrap="square" lIns="0" tIns="0" rIns="0" bIns="0" rtlCol="0" anchor="t"/>
          <a:lstStyle/>
          <a:p>
            <a:pPr indent="0" marL="0">
              <a:lnSpc>
                <a:spcPct val="145000"/>
              </a:lnSpc>
              <a:buNone/>
            </a:pPr>
            <a:r>
              <a:rPr lang="en-US" sz="1400" dirty="0">
                <a:solidFill>
                  <a:schemeClr val="tx2"/>
                </a:solidFill>
              </a:rPr>
              <a:t>프레임 조립</a:t>
            </a:r>
            <a:endParaRPr lang="en-US" sz="1400" dirty="0"/>
          </a:p>
          <a:p>
            <a:pPr indent="0" marL="0">
              <a:lnSpc>
                <a:spcPct val="145000"/>
              </a:lnSpc>
              <a:buNone/>
            </a:pPr>
            <a:r>
              <a:rPr lang="en-US" sz="1400" dirty="0">
                <a:solidFill>
                  <a:schemeClr val="tx2"/>
                </a:solidFill>
              </a:rPr>
              <a:t>페달 제작</a:t>
            </a:r>
            <a:endParaRPr lang="en-US" sz="1400" dirty="0"/>
          </a:p>
          <a:p>
            <a:pPr indent="0" marL="0">
              <a:lnSpc>
                <a:spcPct val="145000"/>
              </a:lnSpc>
              <a:buNone/>
            </a:pPr>
            <a:r>
              <a:rPr lang="en-US" sz="1400" dirty="0">
                <a:solidFill>
                  <a:schemeClr val="tx2"/>
                </a:solidFill>
              </a:rPr>
              <a:t>시연 진행</a:t>
            </a:r>
            <a:endParaRPr lang="en-US" sz="1400" dirty="0"/>
          </a:p>
        </p:txBody>
      </p:sp>
      <p:sp>
        <p:nvSpPr>
          <p:cNvPr id="16" name="Shape 14"/>
          <p:cNvSpPr/>
          <p:nvPr/>
        </p:nvSpPr>
        <p:spPr>
          <a:xfrm>
            <a:off x="6583680" y="1874520"/>
            <a:ext cx="0" cy="2514600"/>
          </a:xfrm>
          <a:prstGeom prst="line">
            <a:avLst/>
          </a:prstGeom>
          <a:noFill/>
          <a:ln w="9525">
            <a:solidFill>
              <a:schemeClr val="accent6"/>
            </a:solidFill>
            <a:prstDash val="solid"/>
          </a:ln>
        </p:spPr>
      </p:sp>
      <p:sp>
        <p:nvSpPr>
          <p:cNvPr id="17" name="Text 15"/>
          <p:cNvSpPr txBox="1"/>
          <p:nvPr/>
        </p:nvSpPr>
        <p:spPr>
          <a:xfrm>
            <a:off x="6858000" y="1874520"/>
            <a:ext cx="1645920" cy="256032"/>
          </a:xfrm>
          <a:prstGeom prst="rect">
            <a:avLst/>
          </a:prstGeom>
          <a:noFill/>
          <a:ln/>
        </p:spPr>
        <p:txBody>
          <a:bodyPr wrap="square" lIns="0" tIns="0" rIns="0" bIns="0" rtlCol="0" anchor="t"/>
          <a:lstStyle/>
          <a:p>
            <a:pPr indent="0" marL="0">
              <a:buNone/>
            </a:pPr>
            <a:r>
              <a:rPr lang="en-US" sz="1200" dirty="0">
                <a:solidFill>
                  <a:schemeClr val="accent2"/>
                </a:solidFill>
              </a:rPr>
              <a:t>기획</a:t>
            </a:r>
            <a:endParaRPr lang="en-US" sz="1200" dirty="0"/>
          </a:p>
        </p:txBody>
      </p:sp>
      <p:sp>
        <p:nvSpPr>
          <p:cNvPr id="18" name="Text 16"/>
          <p:cNvSpPr txBox="1"/>
          <p:nvPr/>
        </p:nvSpPr>
        <p:spPr>
          <a:xfrm>
            <a:off x="6858000" y="2194560"/>
            <a:ext cx="1645920" cy="502920"/>
          </a:xfrm>
          <a:prstGeom prst="rect">
            <a:avLst/>
          </a:prstGeom>
          <a:noFill/>
          <a:ln/>
        </p:spPr>
        <p:txBody>
          <a:bodyPr wrap="square" lIns="0" tIns="0" rIns="0" bIns="0" rtlCol="0" anchor="ctr"/>
          <a:lstStyle/>
          <a:p>
            <a:pPr indent="0" marL="0">
              <a:buNone/>
            </a:pPr>
            <a:r>
              <a:rPr lang="en-US" sz="2600" b="1" dirty="0">
                <a:solidFill>
                  <a:schemeClr val="tx1"/>
                </a:solidFill>
              </a:rPr>
              <a:t>김창식</a:t>
            </a:r>
            <a:endParaRPr lang="en-US" sz="2600" dirty="0"/>
          </a:p>
        </p:txBody>
      </p:sp>
      <p:sp>
        <p:nvSpPr>
          <p:cNvPr id="19" name="Text 17"/>
          <p:cNvSpPr txBox="1"/>
          <p:nvPr/>
        </p:nvSpPr>
        <p:spPr>
          <a:xfrm>
            <a:off x="6858000" y="3017520"/>
            <a:ext cx="1645920" cy="1188720"/>
          </a:xfrm>
          <a:prstGeom prst="rect">
            <a:avLst/>
          </a:prstGeom>
          <a:noFill/>
          <a:ln/>
        </p:spPr>
        <p:txBody>
          <a:bodyPr wrap="square" lIns="0" tIns="0" rIns="0" bIns="0" rtlCol="0" anchor="t"/>
          <a:lstStyle/>
          <a:p>
            <a:pPr indent="0" marL="0">
              <a:lnSpc>
                <a:spcPct val="145000"/>
              </a:lnSpc>
              <a:buNone/>
            </a:pPr>
            <a:r>
              <a:rPr lang="en-US" sz="1400" dirty="0">
                <a:solidFill>
                  <a:schemeClr val="tx2"/>
                </a:solidFill>
              </a:rPr>
              <a:t>SRS 작성</a:t>
            </a:r>
            <a:endParaRPr lang="en-US" sz="1400" dirty="0"/>
          </a:p>
          <a:p>
            <a:pPr indent="0" marL="0">
              <a:lnSpc>
                <a:spcPct val="145000"/>
              </a:lnSpc>
              <a:buNone/>
            </a:pPr>
            <a:r>
              <a:rPr lang="en-US" sz="1400" dirty="0">
                <a:solidFill>
                  <a:schemeClr val="tx2"/>
                </a:solidFill>
              </a:rPr>
              <a:t>3D 설계</a:t>
            </a:r>
            <a:endParaRPr lang="en-US" sz="1400" dirty="0"/>
          </a:p>
          <a:p>
            <a:pPr indent="0" marL="0">
              <a:lnSpc>
                <a:spcPct val="145000"/>
              </a:lnSpc>
              <a:buNone/>
            </a:pPr>
            <a:r>
              <a:rPr lang="en-US" sz="1400" dirty="0">
                <a:solidFill>
                  <a:schemeClr val="tx2"/>
                </a:solidFill>
              </a:rPr>
              <a:t>일정 관리, 발표</a:t>
            </a:r>
            <a:endParaRPr lang="en-US" sz="1400" dirty="0"/>
          </a:p>
        </p:txBody>
      </p:sp>
      <p:sp>
        <p:nvSpPr>
          <p:cNvPr id="25" name="Slide Number Placeholder 0"/>
          <p:cNvSpPr>
            <a:spLocks noGrp="1"/>
          </p:cNvSpPr>
          <p:nvPr>
            <p:ph type="sldNum" sz="quarter" idx="4294967295"/>
          </p:nvPr>
        </p:nvSpPr>
        <p:spPr>
          <a:xfrm>
            <a:off x="8138160" y="470916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594360"/>
          </a:xfrm>
          <a:prstGeom prst="rect">
            <a:avLst/>
          </a:prstGeom>
          <a:noFill/>
          <a:ln/>
        </p:spPr>
        <p:txBody>
          <a:bodyPr wrap="square" lIns="0" tIns="0" rIns="0" bIns="0" rtlCol="0" anchor="ctr"/>
          <a:lstStyle/>
          <a:p>
            <a:pPr algn="l" indent="0" marL="0">
              <a:buNone/>
            </a:pPr>
            <a:r>
              <a:rPr lang="en-US" sz="2800" b="1" dirty="0">
                <a:solidFill>
                  <a:schemeClr val="tx1"/>
                </a:solidFill>
              </a:rPr>
              <a:t>만드는 이유</a:t>
            </a:r>
            <a:endParaRPr lang="en-US" sz="2800" dirty="0"/>
          </a:p>
        </p:txBody>
      </p:sp>
      <p:sp>
        <p:nvSpPr>
          <p:cNvPr id="3" name="Shape 1"/>
          <p:cNvSpPr/>
          <p:nvPr/>
        </p:nvSpPr>
        <p:spPr>
          <a:xfrm>
            <a:off x="548640" y="1325880"/>
            <a:ext cx="8046720" cy="0"/>
          </a:xfrm>
          <a:prstGeom prst="line">
            <a:avLst/>
          </a:prstGeom>
          <a:noFill/>
          <a:ln w="9525">
            <a:solidFill>
              <a:schemeClr val="tx1"/>
            </a:solidFill>
            <a:prstDash val="solid"/>
          </a:ln>
        </p:spPr>
      </p:sp>
      <p:sp>
        <p:nvSpPr>
          <p:cNvPr id="4" name="Text 2"/>
          <p:cNvSpPr txBox="1"/>
          <p:nvPr/>
        </p:nvSpPr>
        <p:spPr>
          <a:xfrm>
            <a:off x="548640" y="1645920"/>
            <a:ext cx="4206240" cy="2194560"/>
          </a:xfrm>
          <a:prstGeom prst="rect">
            <a:avLst/>
          </a:prstGeom>
          <a:noFill/>
          <a:ln/>
        </p:spPr>
        <p:txBody>
          <a:bodyPr wrap="square" lIns="0" tIns="0" rIns="0" bIns="0" rtlCol="0" anchor="t"/>
          <a:lstStyle/>
          <a:p>
            <a:pPr indent="0" marL="0">
              <a:lnSpc>
                <a:spcPct val="125000"/>
              </a:lnSpc>
              <a:buNone/>
            </a:pPr>
            <a:r>
              <a:rPr lang="en-US" sz="2800" b="1" dirty="0">
                <a:solidFill>
                  <a:schemeClr val="tx1"/>
                </a:solidFill>
              </a:rPr>
              <a:t>도로에 나가기 전,</a:t>
            </a:r>
            <a:endParaRPr lang="en-US" sz="2800" dirty="0"/>
          </a:p>
          <a:p>
            <a:pPr indent="0" marL="0">
              <a:lnSpc>
                <a:spcPct val="125000"/>
              </a:lnSpc>
              <a:buNone/>
            </a:pPr>
            <a:r>
              <a:rPr lang="en-US" sz="2800" b="1" dirty="0">
                <a:solidFill>
                  <a:schemeClr val="tx1"/>
                </a:solidFill>
              </a:rPr>
              <a:t>누구나 안전하게</a:t>
            </a:r>
            <a:endParaRPr lang="en-US" sz="2800" dirty="0"/>
          </a:p>
          <a:p>
            <a:pPr indent="0" marL="0">
              <a:lnSpc>
                <a:spcPct val="125000"/>
              </a:lnSpc>
              <a:buNone/>
            </a:pPr>
            <a:r>
              <a:rPr lang="en-US" sz="2800" b="1" dirty="0">
                <a:solidFill>
                  <a:schemeClr val="tx1"/>
                </a:solidFill>
              </a:rPr>
              <a:t>운전을 연습할 수 있도록</a:t>
            </a:r>
            <a:endParaRPr lang="en-US" sz="2800" dirty="0"/>
          </a:p>
        </p:txBody>
      </p:sp>
      <p:sp>
        <p:nvSpPr>
          <p:cNvPr id="5" name="Shape 3"/>
          <p:cNvSpPr/>
          <p:nvPr/>
        </p:nvSpPr>
        <p:spPr>
          <a:xfrm>
            <a:off x="4983480" y="1645920"/>
            <a:ext cx="0" cy="2423160"/>
          </a:xfrm>
          <a:prstGeom prst="line">
            <a:avLst/>
          </a:prstGeom>
          <a:noFill/>
          <a:ln w="9525">
            <a:solidFill>
              <a:schemeClr val="accent6"/>
            </a:solidFill>
            <a:prstDash val="solid"/>
          </a:ln>
        </p:spPr>
      </p:sp>
      <p:sp>
        <p:nvSpPr>
          <p:cNvPr id="6" name="Text 4"/>
          <p:cNvSpPr txBox="1"/>
          <p:nvPr/>
        </p:nvSpPr>
        <p:spPr>
          <a:xfrm>
            <a:off x="5349240" y="1645920"/>
            <a:ext cx="3246120" cy="329184"/>
          </a:xfrm>
          <a:prstGeom prst="rect">
            <a:avLst/>
          </a:prstGeom>
          <a:noFill/>
          <a:ln/>
        </p:spPr>
        <p:txBody>
          <a:bodyPr wrap="square" lIns="0" tIns="0" rIns="0" bIns="0" rtlCol="0" anchor="t"/>
          <a:lstStyle/>
          <a:p>
            <a:pPr indent="0" marL="0">
              <a:buNone/>
            </a:pPr>
            <a:r>
              <a:rPr lang="en-US" sz="1800" b="1" dirty="0">
                <a:solidFill>
                  <a:schemeClr val="tx1"/>
                </a:solidFill>
              </a:rPr>
              <a:t>안전한 운전 연습</a:t>
            </a:r>
            <a:endParaRPr lang="en-US" sz="1800" dirty="0"/>
          </a:p>
        </p:txBody>
      </p:sp>
      <p:sp>
        <p:nvSpPr>
          <p:cNvPr id="7" name="Text 5"/>
          <p:cNvSpPr txBox="1"/>
          <p:nvPr/>
        </p:nvSpPr>
        <p:spPr>
          <a:xfrm>
            <a:off x="5349240" y="2011680"/>
            <a:ext cx="3246120" cy="256032"/>
          </a:xfrm>
          <a:prstGeom prst="rect">
            <a:avLst/>
          </a:prstGeom>
          <a:noFill/>
          <a:ln/>
        </p:spPr>
        <p:txBody>
          <a:bodyPr wrap="square" lIns="0" tIns="0" rIns="0" bIns="0" rtlCol="0" anchor="t"/>
          <a:lstStyle/>
          <a:p>
            <a:pPr indent="0" marL="0">
              <a:buNone/>
            </a:pPr>
            <a:r>
              <a:rPr lang="en-US" sz="1200" dirty="0">
                <a:solidFill>
                  <a:schemeClr val="accent2"/>
                </a:solidFill>
              </a:rPr>
              <a:t>실제 도로 전에 핸들 감각 익히기</a:t>
            </a:r>
            <a:endParaRPr lang="en-US" sz="1200" dirty="0"/>
          </a:p>
        </p:txBody>
      </p:sp>
      <p:sp>
        <p:nvSpPr>
          <p:cNvPr id="8" name="Shape 6"/>
          <p:cNvSpPr/>
          <p:nvPr/>
        </p:nvSpPr>
        <p:spPr>
          <a:xfrm>
            <a:off x="5349240" y="2404872"/>
            <a:ext cx="3246120" cy="0"/>
          </a:xfrm>
          <a:prstGeom prst="line">
            <a:avLst/>
          </a:prstGeom>
          <a:noFill/>
          <a:ln w="9525">
            <a:solidFill>
              <a:schemeClr val="accent6"/>
            </a:solidFill>
            <a:prstDash val="solid"/>
          </a:ln>
        </p:spPr>
      </p:sp>
      <p:sp>
        <p:nvSpPr>
          <p:cNvPr id="9" name="Text 7"/>
          <p:cNvSpPr txBox="1"/>
          <p:nvPr/>
        </p:nvSpPr>
        <p:spPr>
          <a:xfrm>
            <a:off x="5349240" y="2514600"/>
            <a:ext cx="3246120" cy="329184"/>
          </a:xfrm>
          <a:prstGeom prst="rect">
            <a:avLst/>
          </a:prstGeom>
          <a:noFill/>
          <a:ln/>
        </p:spPr>
        <p:txBody>
          <a:bodyPr wrap="square" lIns="0" tIns="0" rIns="0" bIns="0" rtlCol="0" anchor="t"/>
          <a:lstStyle/>
          <a:p>
            <a:pPr indent="0" marL="0">
              <a:buNone/>
            </a:pPr>
            <a:r>
              <a:rPr lang="en-US" sz="1800" b="1" dirty="0">
                <a:solidFill>
                  <a:schemeClr val="tx1"/>
                </a:solidFill>
              </a:rPr>
              <a:t>부담 없는 비용</a:t>
            </a:r>
            <a:endParaRPr lang="en-US" sz="1800" dirty="0"/>
          </a:p>
        </p:txBody>
      </p:sp>
      <p:sp>
        <p:nvSpPr>
          <p:cNvPr id="10" name="Text 8"/>
          <p:cNvSpPr txBox="1"/>
          <p:nvPr/>
        </p:nvSpPr>
        <p:spPr>
          <a:xfrm>
            <a:off x="5349240" y="2880360"/>
            <a:ext cx="3246120" cy="256032"/>
          </a:xfrm>
          <a:prstGeom prst="rect">
            <a:avLst/>
          </a:prstGeom>
          <a:noFill/>
          <a:ln/>
        </p:spPr>
        <p:txBody>
          <a:bodyPr wrap="square" lIns="0" tIns="0" rIns="0" bIns="0" rtlCol="0" anchor="t"/>
          <a:lstStyle/>
          <a:p>
            <a:pPr indent="0" marL="0">
              <a:buNone/>
            </a:pPr>
            <a:r>
              <a:rPr lang="en-US" sz="1200" dirty="0">
                <a:solidFill>
                  <a:schemeClr val="accent2"/>
                </a:solidFill>
              </a:rPr>
              <a:t>학교·복지관도 갖출 수 있는 장비</a:t>
            </a:r>
            <a:endParaRPr lang="en-US" sz="1200" dirty="0"/>
          </a:p>
        </p:txBody>
      </p:sp>
      <p:sp>
        <p:nvSpPr>
          <p:cNvPr id="11" name="Shape 9"/>
          <p:cNvSpPr/>
          <p:nvPr/>
        </p:nvSpPr>
        <p:spPr>
          <a:xfrm>
            <a:off x="5349240" y="3273552"/>
            <a:ext cx="3246120" cy="0"/>
          </a:xfrm>
          <a:prstGeom prst="line">
            <a:avLst/>
          </a:prstGeom>
          <a:noFill/>
          <a:ln w="9525">
            <a:solidFill>
              <a:schemeClr val="accent6"/>
            </a:solidFill>
            <a:prstDash val="solid"/>
          </a:ln>
        </p:spPr>
      </p:sp>
      <p:sp>
        <p:nvSpPr>
          <p:cNvPr id="12" name="Text 10"/>
          <p:cNvSpPr txBox="1"/>
          <p:nvPr/>
        </p:nvSpPr>
        <p:spPr>
          <a:xfrm>
            <a:off x="5349240" y="3383280"/>
            <a:ext cx="3246120" cy="329184"/>
          </a:xfrm>
          <a:prstGeom prst="rect">
            <a:avLst/>
          </a:prstGeom>
          <a:noFill/>
          <a:ln/>
        </p:spPr>
        <p:txBody>
          <a:bodyPr wrap="square" lIns="0" tIns="0" rIns="0" bIns="0" rtlCol="0" anchor="t"/>
          <a:lstStyle/>
          <a:p>
            <a:pPr indent="0" marL="0">
              <a:buNone/>
            </a:pPr>
            <a:r>
              <a:rPr lang="en-US" sz="1800" b="1" dirty="0">
                <a:solidFill>
                  <a:schemeClr val="tx1"/>
                </a:solidFill>
              </a:rPr>
              <a:t>열린 설계</a:t>
            </a:r>
            <a:endParaRPr lang="en-US" sz="1800" dirty="0"/>
          </a:p>
        </p:txBody>
      </p:sp>
      <p:sp>
        <p:nvSpPr>
          <p:cNvPr id="13" name="Text 11"/>
          <p:cNvSpPr txBox="1"/>
          <p:nvPr/>
        </p:nvSpPr>
        <p:spPr>
          <a:xfrm>
            <a:off x="5349240" y="3749040"/>
            <a:ext cx="3246120" cy="256032"/>
          </a:xfrm>
          <a:prstGeom prst="rect">
            <a:avLst/>
          </a:prstGeom>
          <a:noFill/>
          <a:ln/>
        </p:spPr>
        <p:txBody>
          <a:bodyPr wrap="square" lIns="0" tIns="0" rIns="0" bIns="0" rtlCol="0" anchor="t"/>
          <a:lstStyle/>
          <a:p>
            <a:pPr indent="0" marL="0">
              <a:buNone/>
            </a:pPr>
            <a:r>
              <a:rPr lang="en-US" sz="1200" dirty="0">
                <a:solidFill>
                  <a:schemeClr val="accent2"/>
                </a:solidFill>
              </a:rPr>
              <a:t>설계를 공개해 누구나 제작</a:t>
            </a:r>
            <a:endParaRPr lang="en-US" sz="1200" dirty="0"/>
          </a:p>
        </p:txBody>
      </p:sp>
      <p:sp>
        <p:nvSpPr>
          <p:cNvPr id="25" name="Slide Number Placeholder 0"/>
          <p:cNvSpPr>
            <a:spLocks noGrp="1"/>
          </p:cNvSpPr>
          <p:nvPr>
            <p:ph type="sldNum" sz="quarter" idx="4294967295"/>
          </p:nvPr>
        </p:nvSpPr>
        <p:spPr>
          <a:xfrm>
            <a:off x="8138160" y="470916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594360"/>
          </a:xfrm>
          <a:prstGeom prst="rect">
            <a:avLst/>
          </a:prstGeom>
          <a:noFill/>
          <a:ln/>
        </p:spPr>
        <p:txBody>
          <a:bodyPr wrap="square" lIns="0" tIns="0" rIns="0" bIns="0" rtlCol="0" anchor="ctr"/>
          <a:lstStyle/>
          <a:p>
            <a:pPr algn="l" indent="0" marL="0">
              <a:buNone/>
            </a:pPr>
            <a:r>
              <a:rPr lang="en-US" sz="2800" b="1" dirty="0">
                <a:solidFill>
                  <a:schemeClr val="tx1"/>
                </a:solidFill>
              </a:rPr>
              <a:t>누가, 왜 쓰나</a:t>
            </a:r>
            <a:endParaRPr lang="en-US" sz="2800" dirty="0"/>
          </a:p>
        </p:txBody>
      </p:sp>
      <p:sp>
        <p:nvSpPr>
          <p:cNvPr id="3" name="Shape 1"/>
          <p:cNvSpPr/>
          <p:nvPr/>
        </p:nvSpPr>
        <p:spPr>
          <a:xfrm>
            <a:off x="548640" y="1325880"/>
            <a:ext cx="8046720" cy="0"/>
          </a:xfrm>
          <a:prstGeom prst="line">
            <a:avLst/>
          </a:prstGeom>
          <a:noFill/>
          <a:ln w="9525">
            <a:solidFill>
              <a:schemeClr val="tx1"/>
            </a:solidFill>
            <a:prstDash val="solid"/>
          </a:ln>
        </p:spPr>
      </p:sp>
      <p:sp>
        <p:nvSpPr>
          <p:cNvPr id="4" name="Text 2"/>
          <p:cNvSpPr txBox="1"/>
          <p:nvPr/>
        </p:nvSpPr>
        <p:spPr>
          <a:xfrm>
            <a:off x="548640" y="1600200"/>
            <a:ext cx="3840480" cy="256032"/>
          </a:xfrm>
          <a:prstGeom prst="rect">
            <a:avLst/>
          </a:prstGeom>
          <a:noFill/>
          <a:ln/>
        </p:spPr>
        <p:txBody>
          <a:bodyPr wrap="square" lIns="0" tIns="0" rIns="0" bIns="0" rtlCol="0" anchor="t"/>
          <a:lstStyle/>
          <a:p>
            <a:pPr indent="0" marL="0">
              <a:buNone/>
            </a:pPr>
            <a:r>
              <a:rPr lang="en-US" sz="1200" dirty="0">
                <a:solidFill>
                  <a:schemeClr val="accent2"/>
                </a:solidFill>
              </a:rPr>
              <a:t>쓰는 사람</a:t>
            </a:r>
            <a:endParaRPr lang="en-US" sz="1200" dirty="0"/>
          </a:p>
        </p:txBody>
      </p:sp>
      <p:sp>
        <p:nvSpPr>
          <p:cNvPr id="5" name="Text 3"/>
          <p:cNvSpPr txBox="1"/>
          <p:nvPr/>
        </p:nvSpPr>
        <p:spPr>
          <a:xfrm>
            <a:off x="548640" y="1965960"/>
            <a:ext cx="1737360" cy="365760"/>
          </a:xfrm>
          <a:prstGeom prst="rect">
            <a:avLst/>
          </a:prstGeom>
          <a:noFill/>
          <a:ln/>
        </p:spPr>
        <p:txBody>
          <a:bodyPr wrap="square" lIns="0" tIns="0" rIns="0" bIns="0" rtlCol="0" anchor="ctr"/>
          <a:lstStyle/>
          <a:p>
            <a:pPr indent="0" marL="0">
              <a:buNone/>
            </a:pPr>
            <a:r>
              <a:rPr lang="en-US" sz="1800" b="1" dirty="0">
                <a:solidFill>
                  <a:schemeClr val="tx1"/>
                </a:solidFill>
              </a:rPr>
              <a:t>초보 운전자</a:t>
            </a:r>
            <a:endParaRPr lang="en-US" sz="1800" dirty="0"/>
          </a:p>
        </p:txBody>
      </p:sp>
      <p:sp>
        <p:nvSpPr>
          <p:cNvPr id="6" name="Text 4"/>
          <p:cNvSpPr txBox="1"/>
          <p:nvPr/>
        </p:nvSpPr>
        <p:spPr>
          <a:xfrm>
            <a:off x="2331720" y="1965960"/>
            <a:ext cx="2240280" cy="365760"/>
          </a:xfrm>
          <a:prstGeom prst="rect">
            <a:avLst/>
          </a:prstGeom>
          <a:noFill/>
          <a:ln/>
        </p:spPr>
        <p:txBody>
          <a:bodyPr wrap="square" lIns="0" tIns="0" rIns="0" bIns="0" rtlCol="0" anchor="ctr"/>
          <a:lstStyle/>
          <a:p>
            <a:pPr indent="0" marL="0">
              <a:buNone/>
            </a:pPr>
            <a:r>
              <a:rPr lang="en-US" sz="1200" dirty="0">
                <a:solidFill>
                  <a:schemeClr val="accent2"/>
                </a:solidFill>
              </a:rPr>
              <a:t>도로 주행 전 연습</a:t>
            </a:r>
            <a:endParaRPr lang="en-US" sz="1200" dirty="0"/>
          </a:p>
        </p:txBody>
      </p:sp>
      <p:sp>
        <p:nvSpPr>
          <p:cNvPr id="7" name="Shape 5"/>
          <p:cNvSpPr/>
          <p:nvPr/>
        </p:nvSpPr>
        <p:spPr>
          <a:xfrm>
            <a:off x="548640" y="2496312"/>
            <a:ext cx="4023360" cy="0"/>
          </a:xfrm>
          <a:prstGeom prst="line">
            <a:avLst/>
          </a:prstGeom>
          <a:noFill/>
          <a:ln w="9525">
            <a:solidFill>
              <a:schemeClr val="accent6"/>
            </a:solidFill>
            <a:prstDash val="solid"/>
          </a:ln>
        </p:spPr>
      </p:sp>
      <p:sp>
        <p:nvSpPr>
          <p:cNvPr id="8" name="Text 6"/>
          <p:cNvSpPr txBox="1"/>
          <p:nvPr/>
        </p:nvSpPr>
        <p:spPr>
          <a:xfrm>
            <a:off x="548640" y="2587752"/>
            <a:ext cx="1737360" cy="365760"/>
          </a:xfrm>
          <a:prstGeom prst="rect">
            <a:avLst/>
          </a:prstGeom>
          <a:noFill/>
          <a:ln/>
        </p:spPr>
        <p:txBody>
          <a:bodyPr wrap="square" lIns="0" tIns="0" rIns="0" bIns="0" rtlCol="0" anchor="ctr"/>
          <a:lstStyle/>
          <a:p>
            <a:pPr indent="0" marL="0">
              <a:buNone/>
            </a:pPr>
            <a:r>
              <a:rPr lang="en-US" sz="1800" b="1" dirty="0">
                <a:solidFill>
                  <a:schemeClr val="tx1"/>
                </a:solidFill>
              </a:rPr>
              <a:t>고령 운전자</a:t>
            </a:r>
            <a:endParaRPr lang="en-US" sz="1800" dirty="0"/>
          </a:p>
        </p:txBody>
      </p:sp>
      <p:sp>
        <p:nvSpPr>
          <p:cNvPr id="9" name="Text 7"/>
          <p:cNvSpPr txBox="1"/>
          <p:nvPr/>
        </p:nvSpPr>
        <p:spPr>
          <a:xfrm>
            <a:off x="2331720" y="2587752"/>
            <a:ext cx="2240280" cy="365760"/>
          </a:xfrm>
          <a:prstGeom prst="rect">
            <a:avLst/>
          </a:prstGeom>
          <a:noFill/>
          <a:ln/>
        </p:spPr>
        <p:txBody>
          <a:bodyPr wrap="square" lIns="0" tIns="0" rIns="0" bIns="0" rtlCol="0" anchor="ctr"/>
          <a:lstStyle/>
          <a:p>
            <a:pPr indent="0" marL="0">
              <a:buNone/>
            </a:pPr>
            <a:r>
              <a:rPr lang="en-US" sz="1200" dirty="0">
                <a:solidFill>
                  <a:schemeClr val="accent2"/>
                </a:solidFill>
              </a:rPr>
              <a:t>운전 감각 유지와 재교육</a:t>
            </a:r>
            <a:endParaRPr lang="en-US" sz="1200" dirty="0"/>
          </a:p>
        </p:txBody>
      </p:sp>
      <p:sp>
        <p:nvSpPr>
          <p:cNvPr id="10" name="Shape 8"/>
          <p:cNvSpPr/>
          <p:nvPr/>
        </p:nvSpPr>
        <p:spPr>
          <a:xfrm>
            <a:off x="548640" y="3118104"/>
            <a:ext cx="4023360" cy="0"/>
          </a:xfrm>
          <a:prstGeom prst="line">
            <a:avLst/>
          </a:prstGeom>
          <a:noFill/>
          <a:ln w="9525">
            <a:solidFill>
              <a:schemeClr val="accent6"/>
            </a:solidFill>
            <a:prstDash val="solid"/>
          </a:ln>
        </p:spPr>
      </p:sp>
      <p:sp>
        <p:nvSpPr>
          <p:cNvPr id="11" name="Text 9"/>
          <p:cNvSpPr txBox="1"/>
          <p:nvPr/>
        </p:nvSpPr>
        <p:spPr>
          <a:xfrm>
            <a:off x="548640" y="3209544"/>
            <a:ext cx="1737360" cy="365760"/>
          </a:xfrm>
          <a:prstGeom prst="rect">
            <a:avLst/>
          </a:prstGeom>
          <a:noFill/>
          <a:ln/>
        </p:spPr>
        <p:txBody>
          <a:bodyPr wrap="square" lIns="0" tIns="0" rIns="0" bIns="0" rtlCol="0" anchor="ctr"/>
          <a:lstStyle/>
          <a:p>
            <a:pPr indent="0" marL="0">
              <a:buNone/>
            </a:pPr>
            <a:r>
              <a:rPr lang="en-US" sz="1800" b="1" dirty="0">
                <a:solidFill>
                  <a:schemeClr val="tx1"/>
                </a:solidFill>
              </a:rPr>
              <a:t>학생</a:t>
            </a:r>
            <a:endParaRPr lang="en-US" sz="1800" dirty="0"/>
          </a:p>
        </p:txBody>
      </p:sp>
      <p:sp>
        <p:nvSpPr>
          <p:cNvPr id="12" name="Text 10"/>
          <p:cNvSpPr txBox="1"/>
          <p:nvPr/>
        </p:nvSpPr>
        <p:spPr>
          <a:xfrm>
            <a:off x="2331720" y="3209544"/>
            <a:ext cx="2240280" cy="365760"/>
          </a:xfrm>
          <a:prstGeom prst="rect">
            <a:avLst/>
          </a:prstGeom>
          <a:noFill/>
          <a:ln/>
        </p:spPr>
        <p:txBody>
          <a:bodyPr wrap="square" lIns="0" tIns="0" rIns="0" bIns="0" rtlCol="0" anchor="ctr"/>
          <a:lstStyle/>
          <a:p>
            <a:pPr indent="0" marL="0">
              <a:buNone/>
            </a:pPr>
            <a:r>
              <a:rPr lang="en-US" sz="1200" dirty="0">
                <a:solidFill>
                  <a:schemeClr val="accent2"/>
                </a:solidFill>
              </a:rPr>
              <a:t>학교·동아리 공학 교육</a:t>
            </a:r>
            <a:endParaRPr lang="en-US" sz="1200" dirty="0"/>
          </a:p>
        </p:txBody>
      </p:sp>
      <p:sp>
        <p:nvSpPr>
          <p:cNvPr id="13" name="Shape 11"/>
          <p:cNvSpPr/>
          <p:nvPr/>
        </p:nvSpPr>
        <p:spPr>
          <a:xfrm>
            <a:off x="548640" y="3739896"/>
            <a:ext cx="4023360" cy="0"/>
          </a:xfrm>
          <a:prstGeom prst="line">
            <a:avLst/>
          </a:prstGeom>
          <a:noFill/>
          <a:ln w="9525">
            <a:solidFill>
              <a:schemeClr val="accent6"/>
            </a:solidFill>
            <a:prstDash val="solid"/>
          </a:ln>
        </p:spPr>
      </p:sp>
      <p:sp>
        <p:nvSpPr>
          <p:cNvPr id="14" name="Text 12"/>
          <p:cNvSpPr txBox="1"/>
          <p:nvPr/>
        </p:nvSpPr>
        <p:spPr>
          <a:xfrm>
            <a:off x="548640" y="3831336"/>
            <a:ext cx="1737360" cy="365760"/>
          </a:xfrm>
          <a:prstGeom prst="rect">
            <a:avLst/>
          </a:prstGeom>
          <a:noFill/>
          <a:ln/>
        </p:spPr>
        <p:txBody>
          <a:bodyPr wrap="square" lIns="0" tIns="0" rIns="0" bIns="0" rtlCol="0" anchor="ctr"/>
          <a:lstStyle/>
          <a:p>
            <a:pPr indent="0" marL="0">
              <a:buNone/>
            </a:pPr>
            <a:r>
              <a:rPr lang="en-US" sz="1800" b="1" dirty="0">
                <a:solidFill>
                  <a:schemeClr val="tx1"/>
                </a:solidFill>
              </a:rPr>
              <a:t>게임 이용자</a:t>
            </a:r>
            <a:endParaRPr lang="en-US" sz="1800" dirty="0"/>
          </a:p>
        </p:txBody>
      </p:sp>
      <p:sp>
        <p:nvSpPr>
          <p:cNvPr id="15" name="Text 13"/>
          <p:cNvSpPr txBox="1"/>
          <p:nvPr/>
        </p:nvSpPr>
        <p:spPr>
          <a:xfrm>
            <a:off x="2331720" y="3831336"/>
            <a:ext cx="2240280" cy="365760"/>
          </a:xfrm>
          <a:prstGeom prst="rect">
            <a:avLst/>
          </a:prstGeom>
          <a:noFill/>
          <a:ln/>
        </p:spPr>
        <p:txBody>
          <a:bodyPr wrap="square" lIns="0" tIns="0" rIns="0" bIns="0" rtlCol="0" anchor="ctr"/>
          <a:lstStyle/>
          <a:p>
            <a:pPr indent="0" marL="0">
              <a:buNone/>
            </a:pPr>
            <a:r>
              <a:rPr lang="en-US" sz="1200" dirty="0">
                <a:solidFill>
                  <a:schemeClr val="accent2"/>
                </a:solidFill>
              </a:rPr>
              <a:t>가정용 레이싱 게임</a:t>
            </a:r>
            <a:endParaRPr lang="en-US" sz="1200" dirty="0"/>
          </a:p>
        </p:txBody>
      </p:sp>
      <p:sp>
        <p:nvSpPr>
          <p:cNvPr id="16" name="Shape 14"/>
          <p:cNvSpPr/>
          <p:nvPr/>
        </p:nvSpPr>
        <p:spPr>
          <a:xfrm>
            <a:off x="4983480" y="1600200"/>
            <a:ext cx="0" cy="2788920"/>
          </a:xfrm>
          <a:prstGeom prst="line">
            <a:avLst/>
          </a:prstGeom>
          <a:noFill/>
          <a:ln w="9525">
            <a:solidFill>
              <a:schemeClr val="accent6"/>
            </a:solidFill>
            <a:prstDash val="solid"/>
          </a:ln>
        </p:spPr>
      </p:sp>
      <p:sp>
        <p:nvSpPr>
          <p:cNvPr id="17" name="Text 15"/>
          <p:cNvSpPr txBox="1"/>
          <p:nvPr/>
        </p:nvSpPr>
        <p:spPr>
          <a:xfrm>
            <a:off x="5349240" y="1600200"/>
            <a:ext cx="3246120" cy="256032"/>
          </a:xfrm>
          <a:prstGeom prst="rect">
            <a:avLst/>
          </a:prstGeom>
          <a:noFill/>
          <a:ln/>
        </p:spPr>
        <p:txBody>
          <a:bodyPr wrap="square" lIns="0" tIns="0" rIns="0" bIns="0" rtlCol="0" anchor="t"/>
          <a:lstStyle/>
          <a:p>
            <a:pPr indent="0" marL="0">
              <a:buNone/>
            </a:pPr>
            <a:r>
              <a:rPr lang="en-US" sz="1200" dirty="0">
                <a:solidFill>
                  <a:schemeClr val="accent2"/>
                </a:solidFill>
              </a:rPr>
              <a:t>쓰는 이유</a:t>
            </a:r>
            <a:endParaRPr lang="en-US" sz="1200" dirty="0"/>
          </a:p>
        </p:txBody>
      </p:sp>
      <p:sp>
        <p:nvSpPr>
          <p:cNvPr id="18" name="Text 16"/>
          <p:cNvSpPr txBox="1"/>
          <p:nvPr/>
        </p:nvSpPr>
        <p:spPr>
          <a:xfrm>
            <a:off x="5349240" y="1965960"/>
            <a:ext cx="3246120" cy="329184"/>
          </a:xfrm>
          <a:prstGeom prst="rect">
            <a:avLst/>
          </a:prstGeom>
          <a:noFill/>
          <a:ln/>
        </p:spPr>
        <p:txBody>
          <a:bodyPr wrap="square" lIns="0" tIns="0" rIns="0" bIns="0" rtlCol="0" anchor="t"/>
          <a:lstStyle/>
          <a:p>
            <a:pPr indent="0" marL="0">
              <a:buNone/>
            </a:pPr>
            <a:r>
              <a:rPr lang="en-US" sz="1800" b="1" dirty="0">
                <a:solidFill>
                  <a:schemeClr val="tx1"/>
                </a:solidFill>
              </a:rPr>
              <a:t>실제 같은 손맛</a:t>
            </a:r>
            <a:endParaRPr lang="en-US" sz="1800" dirty="0"/>
          </a:p>
        </p:txBody>
      </p:sp>
      <p:sp>
        <p:nvSpPr>
          <p:cNvPr id="19" name="Text 17"/>
          <p:cNvSpPr txBox="1"/>
          <p:nvPr/>
        </p:nvSpPr>
        <p:spPr>
          <a:xfrm>
            <a:off x="5349240" y="2331720"/>
            <a:ext cx="3246120" cy="256032"/>
          </a:xfrm>
          <a:prstGeom prst="rect">
            <a:avLst/>
          </a:prstGeom>
          <a:noFill/>
          <a:ln/>
        </p:spPr>
        <p:txBody>
          <a:bodyPr wrap="square" lIns="0" tIns="0" rIns="0" bIns="0" rtlCol="0" anchor="t"/>
          <a:lstStyle/>
          <a:p>
            <a:pPr indent="0" marL="0">
              <a:buNone/>
            </a:pPr>
            <a:r>
              <a:rPr lang="en-US" sz="1200" dirty="0">
                <a:solidFill>
                  <a:schemeClr val="accent2"/>
                </a:solidFill>
              </a:rPr>
              <a:t>노면과 코너링의 힘이 핸들로 전달</a:t>
            </a:r>
            <a:endParaRPr lang="en-US" sz="1200" dirty="0"/>
          </a:p>
        </p:txBody>
      </p:sp>
      <p:sp>
        <p:nvSpPr>
          <p:cNvPr id="20" name="Shape 18"/>
          <p:cNvSpPr/>
          <p:nvPr/>
        </p:nvSpPr>
        <p:spPr>
          <a:xfrm>
            <a:off x="5349240" y="2679192"/>
            <a:ext cx="3246120" cy="0"/>
          </a:xfrm>
          <a:prstGeom prst="line">
            <a:avLst/>
          </a:prstGeom>
          <a:noFill/>
          <a:ln w="9525">
            <a:solidFill>
              <a:schemeClr val="accent6"/>
            </a:solidFill>
            <a:prstDash val="solid"/>
          </a:ln>
        </p:spPr>
      </p:sp>
      <p:sp>
        <p:nvSpPr>
          <p:cNvPr id="21" name="Text 19"/>
          <p:cNvSpPr txBox="1"/>
          <p:nvPr/>
        </p:nvSpPr>
        <p:spPr>
          <a:xfrm>
            <a:off x="5349240" y="2788920"/>
            <a:ext cx="3246120" cy="329184"/>
          </a:xfrm>
          <a:prstGeom prst="rect">
            <a:avLst/>
          </a:prstGeom>
          <a:noFill/>
          <a:ln/>
        </p:spPr>
        <p:txBody>
          <a:bodyPr wrap="square" lIns="0" tIns="0" rIns="0" bIns="0" rtlCol="0" anchor="t"/>
          <a:lstStyle/>
          <a:p>
            <a:pPr indent="0" marL="0">
              <a:buNone/>
            </a:pPr>
            <a:r>
              <a:rPr lang="en-US" sz="1800" b="1" dirty="0">
                <a:solidFill>
                  <a:schemeClr val="tx1"/>
                </a:solidFill>
              </a:rPr>
              <a:t>정밀한 조향</a:t>
            </a:r>
            <a:endParaRPr lang="en-US" sz="1800" dirty="0"/>
          </a:p>
        </p:txBody>
      </p:sp>
      <p:sp>
        <p:nvSpPr>
          <p:cNvPr id="22" name="Text 20"/>
          <p:cNvSpPr txBox="1"/>
          <p:nvPr/>
        </p:nvSpPr>
        <p:spPr>
          <a:xfrm>
            <a:off x="5349240" y="3154680"/>
            <a:ext cx="3246120" cy="256032"/>
          </a:xfrm>
          <a:prstGeom prst="rect">
            <a:avLst/>
          </a:prstGeom>
          <a:noFill/>
          <a:ln/>
        </p:spPr>
        <p:txBody>
          <a:bodyPr wrap="square" lIns="0" tIns="0" rIns="0" bIns="0" rtlCol="0" anchor="t"/>
          <a:lstStyle/>
          <a:p>
            <a:pPr indent="0" marL="0">
              <a:buNone/>
            </a:pPr>
            <a:r>
              <a:rPr lang="en-US" sz="1200" dirty="0">
                <a:solidFill>
                  <a:schemeClr val="accent2"/>
                </a:solidFill>
              </a:rPr>
              <a:t>핸들 각도를 세밀하게 인식</a:t>
            </a:r>
            <a:endParaRPr lang="en-US" sz="1200" dirty="0"/>
          </a:p>
        </p:txBody>
      </p:sp>
      <p:sp>
        <p:nvSpPr>
          <p:cNvPr id="23" name="Shape 21"/>
          <p:cNvSpPr/>
          <p:nvPr/>
        </p:nvSpPr>
        <p:spPr>
          <a:xfrm>
            <a:off x="5349240" y="3502152"/>
            <a:ext cx="3246120" cy="0"/>
          </a:xfrm>
          <a:prstGeom prst="line">
            <a:avLst/>
          </a:prstGeom>
          <a:noFill/>
          <a:ln w="9525">
            <a:solidFill>
              <a:schemeClr val="accent6"/>
            </a:solidFill>
            <a:prstDash val="solid"/>
          </a:ln>
        </p:spPr>
      </p:sp>
      <p:sp>
        <p:nvSpPr>
          <p:cNvPr id="24" name="Text 22"/>
          <p:cNvSpPr txBox="1"/>
          <p:nvPr/>
        </p:nvSpPr>
        <p:spPr>
          <a:xfrm>
            <a:off x="5349240" y="3611880"/>
            <a:ext cx="3246120" cy="329184"/>
          </a:xfrm>
          <a:prstGeom prst="rect">
            <a:avLst/>
          </a:prstGeom>
          <a:noFill/>
          <a:ln/>
        </p:spPr>
        <p:txBody>
          <a:bodyPr wrap="square" lIns="0" tIns="0" rIns="0" bIns="0" rtlCol="0" anchor="t"/>
          <a:lstStyle/>
          <a:p>
            <a:pPr indent="0" marL="0">
              <a:buNone/>
            </a:pPr>
            <a:r>
              <a:rPr lang="en-US" sz="1800" b="1" dirty="0">
                <a:solidFill>
                  <a:schemeClr val="tx1"/>
                </a:solidFill>
              </a:rPr>
              <a:t>사용자 맞춤</a:t>
            </a:r>
            <a:endParaRPr lang="en-US" sz="1800" dirty="0"/>
          </a:p>
        </p:txBody>
      </p:sp>
      <p:sp>
        <p:nvSpPr>
          <p:cNvPr id="25" name="Text 23"/>
          <p:cNvSpPr txBox="1"/>
          <p:nvPr/>
        </p:nvSpPr>
        <p:spPr>
          <a:xfrm>
            <a:off x="5349240" y="3977640"/>
            <a:ext cx="3246120" cy="256032"/>
          </a:xfrm>
          <a:prstGeom prst="rect">
            <a:avLst/>
          </a:prstGeom>
          <a:noFill/>
          <a:ln/>
        </p:spPr>
        <p:txBody>
          <a:bodyPr wrap="square" lIns="0" tIns="0" rIns="0" bIns="0" rtlCol="0" anchor="t"/>
          <a:lstStyle/>
          <a:p>
            <a:pPr indent="0" marL="0">
              <a:buNone/>
            </a:pPr>
            <a:r>
              <a:rPr lang="en-US" sz="1200" dirty="0">
                <a:solidFill>
                  <a:schemeClr val="accent2"/>
                </a:solidFill>
              </a:rPr>
              <a:t>회전 범위와 힘 세기 조절</a:t>
            </a:r>
            <a:endParaRPr lang="en-US" sz="1200" dirty="0"/>
          </a:p>
        </p:txBody>
      </p:sp>
      <p:sp>
        <p:nvSpPr>
          <p:cNvPr id="25" name="Slide Number Placeholder 0"/>
          <p:cNvSpPr>
            <a:spLocks noGrp="1"/>
          </p:cNvSpPr>
          <p:nvPr>
            <p:ph type="sldNum" sz="quarter" idx="4294967295"/>
          </p:nvPr>
        </p:nvSpPr>
        <p:spPr>
          <a:xfrm>
            <a:off x="8138160" y="470916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FFB Mono">
  <a:themeElements>
    <a:clrScheme name="FFB Mono">
      <a:dk1>
        <a:srgbClr val="111111"/>
      </a:dk1>
      <a:lt1>
        <a:srgbClr val="FFFFFF"/>
      </a:lt1>
      <a:dk2>
        <a:srgbClr val="444444"/>
      </a:dk2>
      <a:lt2>
        <a:srgbClr val="F4F4F4"/>
      </a:lt2>
      <a:accent1>
        <a:srgbClr val="111111"/>
      </a:accent1>
      <a:accent2>
        <a:srgbClr val="777777"/>
      </a:accent2>
      <a:accent3>
        <a:srgbClr val="B5B5B5"/>
      </a:accent3>
      <a:accent4>
        <a:srgbClr val="999999"/>
      </a:accent4>
      <a:accent5>
        <a:srgbClr val="DDDDDD"/>
      </a:accent5>
      <a:accent6>
        <a:srgbClr val="D6D6D6"/>
      </a:accent6>
      <a:hlink>
        <a:srgbClr val="111111"/>
      </a:hlink>
      <a:folHlink>
        <a:srgbClr val="777777"/>
      </a:folHlink>
    </a:clrScheme>
    <a:fontScheme name="FFB Mono">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DIY 포스 피드백 레이싱 휠</dc:title>
  <dc:subject>PptxGenJS Presentation</dc:subject>
  <dc:creator>PptxGenJS</dc:creator>
  <cp:lastModifiedBy>PptxGenJS</cp:lastModifiedBy>
  <cp:revision>1</cp:revision>
  <dcterms:created xsi:type="dcterms:W3CDTF">2026-10-27T02:23:27Z</dcterms:created>
  <dcterms:modified xsi:type="dcterms:W3CDTF">2026-10-27T02:23:27Z</dcterms:modified>
</cp:coreProperties>
</file>